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85" r:id="rId7"/>
    <p:sldId id="260" r:id="rId8"/>
    <p:sldId id="261" r:id="rId9"/>
    <p:sldId id="282" r:id="rId10"/>
    <p:sldId id="262" r:id="rId11"/>
    <p:sldId id="283" r:id="rId12"/>
    <p:sldId id="284" r:id="rId13"/>
    <p:sldId id="26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291" r:id="rId23"/>
    <p:sldId id="292" r:id="rId24"/>
    <p:sldId id="293" r:id="rId25"/>
    <p:sldId id="294" r:id="rId26"/>
    <p:sldId id="295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4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344"/>
        <p:guide pos="28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image" Target="../media/image4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5.png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tags" Target="../tags/tag41.xml"/><Relationship Id="rId2" Type="http://schemas.openxmlformats.org/officeDocument/2006/relationships/image" Target="../media/image7.png"/><Relationship Id="rId1" Type="http://schemas.openxmlformats.org/officeDocument/2006/relationships/tags" Target="../tags/tag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0.png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63640" y="-1051560"/>
            <a:ext cx="2331720" cy="2331720"/>
          </a:xfrm>
          <a:prstGeom prst="ellipse">
            <a:avLst/>
          </a:prstGeom>
          <a:solidFill>
            <a:srgbClr val="3E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39712" y="2313432"/>
            <a:ext cx="2514600" cy="96012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36992" y="1353312"/>
            <a:ext cx="1600200" cy="59436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694944"/>
            <a:ext cx="1051560" cy="73152"/>
          </a:xfrm>
          <a:prstGeom prst="rect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50" b="1" i="0">
                <a:solidFill>
                  <a:srgbClr val="DDD1C1"/>
                </a:solidFill>
                <a:latin typeface="Aptos"/>
              </a:defRPr>
            </a:pPr>
            <a:r>
              <a:t>AI3023 · MLW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3631" y="1011447"/>
            <a:ext cx="45720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ptos"/>
              </a:defRPr>
            </a:pPr>
            <a:r>
              <a:t>Spaceship Titanic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608" y="1536192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550" b="0" i="0">
                <a:solidFill>
                  <a:srgbClr val="DDD1C1"/>
                </a:solidFill>
                <a:latin typeface="Aptos"/>
              </a:defRPr>
            </a:pPr>
            <a:r>
              <a:rPr sz="1400"/>
              <a:t>Passenger Transport Prediction</a:t>
            </a:r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483608" y="2084832"/>
            <a:ext cx="5852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From simple baselines to a stable boosted 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2423160"/>
            <a:ext cx="1965960" cy="1828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425696"/>
            <a:ext cx="7772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40" b="0" i="0">
                <a:solidFill>
                  <a:srgbClr val="DDD1C1"/>
                </a:solidFill>
                <a:latin typeface="Aptos"/>
              </a:defRPr>
            </a:pPr>
            <a:r>
              <a:t>Nova@MLW  ·  Zhentao Luo · Zihao Chen · Zhuangtao Xiong · Zirui 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617720"/>
            <a:ext cx="7772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80" b="0" i="0">
                <a:solidFill>
                  <a:srgbClr val="BCA997"/>
                </a:solidFill>
                <a:latin typeface="Aptos"/>
              </a:defRPr>
            </a:pPr>
            <a:r>
              <a:t>Data analysis  ·  Baseline modeling  ·  Tree optimization  ·  Final ensemble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3767328" y="786384"/>
            <a:ext cx="1600200" cy="1828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843915" y="4297045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950" b="0" i="0">
                <a:solidFill>
                  <a:srgbClr val="695F52"/>
                </a:solidFill>
                <a:latin typeface="Aptos"/>
              </a:defRPr>
            </a:pPr>
            <a:r>
              <a:rPr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high-score story: data understanding → model limits → targeted optimization →  submission</a:t>
            </a:r>
            <a:endParaRPr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02920" y="1141730"/>
            <a:ext cx="1536192" cy="2606040"/>
          </a:xfrm>
          <a:prstGeom prst="roundRect">
            <a:avLst/>
          </a:prstGeom>
          <a:solidFill>
            <a:srgbClr val="FBF9F4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502920" y="1141730"/>
            <a:ext cx="1536192" cy="73152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76072" y="1342898"/>
            <a:ext cx="1389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900" b="1" i="0">
                <a:solidFill>
                  <a:srgbClr val="206987"/>
                </a:solidFill>
                <a:latin typeface="Aptos"/>
              </a:defRPr>
            </a:pPr>
            <a:r>
              <a:rPr sz="2000"/>
              <a:t>01</a:t>
            </a:r>
            <a:endParaRPr sz="20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12648" y="1827530"/>
            <a:ext cx="1316736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02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Dataset &amp; EDA</a:t>
            </a:r>
            <a:endParaRPr sz="1400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31190" y="2394585"/>
            <a:ext cx="1280160" cy="7499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40" b="0" i="0">
                <a:solidFill>
                  <a:srgbClr val="695F52"/>
                </a:solidFill>
                <a:latin typeface="Aptos"/>
              </a:defRPr>
            </a:pPr>
            <a:r>
              <a:rPr sz="1000"/>
              <a:t>What makes this tabular problem difficult?</a:t>
            </a:r>
            <a:endParaRPr sz="1000"/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2221991" y="1141730"/>
            <a:ext cx="1536192" cy="2606040"/>
          </a:xfrm>
          <a:prstGeom prst="roundRect">
            <a:avLst/>
          </a:prstGeom>
          <a:solidFill>
            <a:srgbClr val="FBF9F4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2221991" y="1141730"/>
            <a:ext cx="1536192" cy="73152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2295144" y="1342898"/>
            <a:ext cx="1389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900" b="1" i="0">
                <a:solidFill>
                  <a:srgbClr val="3D7B5B"/>
                </a:solidFill>
                <a:latin typeface="Aptos"/>
              </a:defRPr>
            </a:pPr>
            <a:r>
              <a:rPr sz="2000"/>
              <a:t>02</a:t>
            </a:r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2331720" y="1827530"/>
            <a:ext cx="1316736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02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Feature Engineering</a:t>
            </a:r>
            <a:endParaRPr sz="1400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2350008" y="2394458"/>
            <a:ext cx="128016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40" b="0" i="0">
                <a:solidFill>
                  <a:srgbClr val="695F52"/>
                </a:solidFill>
                <a:latin typeface="Aptos"/>
              </a:defRPr>
            </a:pPr>
            <a:r>
              <a:rPr sz="1000"/>
              <a:t>How raw IDs, cabins and spending become usable signals</a:t>
            </a:r>
            <a:endParaRPr sz="1000"/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3941063" y="1141730"/>
            <a:ext cx="1536192" cy="2606040"/>
          </a:xfrm>
          <a:prstGeom prst="roundRect">
            <a:avLst/>
          </a:prstGeom>
          <a:solidFill>
            <a:srgbClr val="FBF9F4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/>
          <p:cNvSpPr/>
          <p:nvPr>
            <p:custDataLst>
              <p:tags r:id="rId12"/>
            </p:custDataLst>
          </p:nvPr>
        </p:nvSpPr>
        <p:spPr>
          <a:xfrm>
            <a:off x="3941063" y="1141730"/>
            <a:ext cx="1536192" cy="73152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4014215" y="1342898"/>
            <a:ext cx="1389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900" b="1" i="0">
                <a:solidFill>
                  <a:srgbClr val="B85B37"/>
                </a:solidFill>
                <a:latin typeface="Aptos"/>
              </a:defRPr>
            </a:pPr>
            <a:r>
              <a:rPr sz="2000"/>
              <a:t>03</a:t>
            </a:r>
            <a:endParaRPr sz="2000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4050791" y="1827530"/>
            <a:ext cx="1316736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02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Baseline Models</a:t>
            </a:r>
            <a:endParaRPr sz="1400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4069079" y="2394458"/>
            <a:ext cx="128016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40" b="0" i="0">
                <a:solidFill>
                  <a:srgbClr val="695F52"/>
                </a:solidFill>
                <a:latin typeface="Aptos"/>
              </a:defRPr>
            </a:pPr>
            <a:r>
              <a:rPr sz="1000"/>
              <a:t>Logistic Regression and SVM as the starting point</a:t>
            </a:r>
            <a:endParaRPr sz="1000"/>
          </a:p>
        </p:txBody>
      </p:sp>
      <p:sp>
        <p:nvSpPr>
          <p:cNvPr id="20" name="Rounded Rectangle 19"/>
          <p:cNvSpPr/>
          <p:nvPr>
            <p:custDataLst>
              <p:tags r:id="rId16"/>
            </p:custDataLst>
          </p:nvPr>
        </p:nvSpPr>
        <p:spPr>
          <a:xfrm>
            <a:off x="5660136" y="1141730"/>
            <a:ext cx="1536192" cy="2606040"/>
          </a:xfrm>
          <a:prstGeom prst="roundRect">
            <a:avLst/>
          </a:prstGeom>
          <a:solidFill>
            <a:srgbClr val="FBF9F4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ectangle 20"/>
          <p:cNvSpPr/>
          <p:nvPr>
            <p:custDataLst>
              <p:tags r:id="rId17"/>
            </p:custDataLst>
          </p:nvPr>
        </p:nvSpPr>
        <p:spPr>
          <a:xfrm>
            <a:off x="5660136" y="1141730"/>
            <a:ext cx="1536192" cy="73152"/>
          </a:xfrm>
          <a:prstGeom prst="rect">
            <a:avLst/>
          </a:prstGeom>
          <a:solidFill>
            <a:srgbClr val="A5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5733288" y="1342898"/>
            <a:ext cx="1389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900" b="1" i="0">
                <a:solidFill>
                  <a:srgbClr val="A54035"/>
                </a:solidFill>
                <a:latin typeface="Aptos"/>
              </a:defRPr>
            </a:pPr>
            <a:r>
              <a:rPr sz="2000"/>
              <a:t>04</a:t>
            </a:r>
            <a:endParaRPr sz="2000"/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5769864" y="1827530"/>
            <a:ext cx="1316736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02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Tree Models &amp; Ensemble</a:t>
            </a:r>
            <a:endParaRPr sz="1400"/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5788151" y="2394458"/>
            <a:ext cx="128016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40" b="0" i="0">
                <a:solidFill>
                  <a:srgbClr val="695F52"/>
                </a:solidFill>
                <a:latin typeface="Aptos"/>
              </a:defRPr>
            </a:pPr>
            <a:r>
              <a:rPr sz="1000"/>
              <a:t>RF, XGBoost, LightGBM, CatBoost and blending</a:t>
            </a:r>
            <a:endParaRPr sz="1000"/>
          </a:p>
        </p:txBody>
      </p:sp>
      <p:sp>
        <p:nvSpPr>
          <p:cNvPr id="25" name="Rounded Rectangle 24"/>
          <p:cNvSpPr/>
          <p:nvPr>
            <p:custDataLst>
              <p:tags r:id="rId21"/>
            </p:custDataLst>
          </p:nvPr>
        </p:nvSpPr>
        <p:spPr>
          <a:xfrm>
            <a:off x="7379208" y="1141730"/>
            <a:ext cx="1536192" cy="2606040"/>
          </a:xfrm>
          <a:prstGeom prst="roundRect">
            <a:avLst/>
          </a:prstGeom>
          <a:solidFill>
            <a:srgbClr val="FBF9F4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>
            <p:custDataLst>
              <p:tags r:id="rId22"/>
            </p:custDataLst>
          </p:nvPr>
        </p:nvSpPr>
        <p:spPr>
          <a:xfrm>
            <a:off x="7379208" y="1141730"/>
            <a:ext cx="1536192" cy="73152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>
            <p:custDataLst>
              <p:tags r:id="rId23"/>
            </p:custDataLst>
          </p:nvPr>
        </p:nvSpPr>
        <p:spPr>
          <a:xfrm>
            <a:off x="7452360" y="1342898"/>
            <a:ext cx="1389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900" b="1" i="0">
                <a:solidFill>
                  <a:srgbClr val="AC8865"/>
                </a:solidFill>
                <a:latin typeface="Aptos"/>
              </a:defRPr>
            </a:pPr>
            <a:r>
              <a:rPr sz="2000"/>
              <a:t>05</a:t>
            </a:r>
            <a:endParaRPr sz="2000"/>
          </a:p>
        </p:txBody>
      </p:sp>
      <p:sp>
        <p:nvSpPr>
          <p:cNvPr id="28" name="TextBox 27"/>
          <p:cNvSpPr txBox="1"/>
          <p:nvPr>
            <p:custDataLst>
              <p:tags r:id="rId24"/>
            </p:custDataLst>
          </p:nvPr>
        </p:nvSpPr>
        <p:spPr>
          <a:xfrm>
            <a:off x="7488936" y="1827530"/>
            <a:ext cx="1316736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02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Results &amp; Demo</a:t>
            </a:r>
            <a:endParaRPr sz="1400"/>
          </a:p>
        </p:txBody>
      </p:sp>
      <p:sp>
        <p:nvSpPr>
          <p:cNvPr id="29" name="TextBox 28"/>
          <p:cNvSpPr txBox="1"/>
          <p:nvPr>
            <p:custDataLst>
              <p:tags r:id="rId25"/>
            </p:custDataLst>
          </p:nvPr>
        </p:nvSpPr>
        <p:spPr>
          <a:xfrm>
            <a:off x="7507224" y="2394458"/>
            <a:ext cx="128016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40" b="0" i="0">
                <a:solidFill>
                  <a:srgbClr val="695F52"/>
                </a:solidFill>
                <a:latin typeface="Aptos"/>
              </a:defRPr>
            </a:pPr>
            <a:r>
              <a:rPr sz="1000"/>
              <a:t>Performance, cost, reproducibility and conclusion</a:t>
            </a:r>
            <a:endParaRPr sz="1000"/>
          </a:p>
        </p:txBody>
      </p:sp>
      <p:sp>
        <p:nvSpPr>
          <p:cNvPr id="30" name="TextBox 29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 sz="750"/>
              <a:t>02</a:t>
            </a:r>
            <a:endParaRPr sz="750"/>
          </a:p>
        </p:txBody>
      </p:sp>
      <p:sp>
        <p:nvSpPr>
          <p:cNvPr id="31" name="TextBox 1"/>
          <p:cNvSpPr txBox="1"/>
          <p:nvPr/>
        </p:nvSpPr>
        <p:spPr>
          <a:xfrm>
            <a:off x="3175635" y="264922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2400" b="1" i="0">
                <a:solidFill>
                  <a:srgbClr val="312B24"/>
                </a:solidFill>
                <a:latin typeface="Aptos"/>
              </a:defRPr>
            </a:pPr>
            <a:r>
              <a:rPr sz="3200"/>
              <a:t>CONTENTS</a:t>
            </a:r>
            <a:endParaRPr sz="3200"/>
          </a:p>
        </p:txBody>
      </p:sp>
      <p:sp>
        <p:nvSpPr>
          <p:cNvPr id="2" name="Oval 1"/>
          <p:cNvSpPr/>
          <p:nvPr/>
        </p:nvSpPr>
        <p:spPr>
          <a:xfrm>
            <a:off x="130259" y="165660"/>
            <a:ext cx="279585" cy="29733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2"/>
          <p:cNvSpPr txBox="1"/>
          <p:nvPr/>
        </p:nvSpPr>
        <p:spPr>
          <a:xfrm>
            <a:off x="178594" y="211441"/>
            <a:ext cx="182915" cy="20575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1200">
                <a:solidFill>
                  <a:srgbClr val="FFFFFF"/>
                </a:solidFill>
                <a:latin typeface="Aptos" charset="0"/>
              </a:rPr>
              <a:t>0</a:t>
            </a:r>
            <a:r>
              <a:rPr lang="en-US" altLang="zh-CN" sz="1200">
                <a:solidFill>
                  <a:srgbClr val="FFFFFF"/>
                </a:solidFill>
                <a:latin typeface="Aptos" charset="0"/>
                <a:cs typeface="Arial" panose="020B0604020202020204" pitchFamily="34" charset="0"/>
              </a:rPr>
              <a:t>2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63640" y="-1051560"/>
            <a:ext cx="2331720" cy="2331720"/>
          </a:xfrm>
          <a:prstGeom prst="ellipse">
            <a:avLst/>
          </a:prstGeom>
          <a:solidFill>
            <a:srgbClr val="3E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39712" y="2313432"/>
            <a:ext cx="2514600" cy="96012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36992" y="1353312"/>
            <a:ext cx="1600200" cy="59436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694944"/>
            <a:ext cx="1051560" cy="73152"/>
          </a:xfrm>
          <a:prstGeom prst="rect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5945" y="802640"/>
            <a:ext cx="1189355" cy="50482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>
              <a:defRPr sz="2600" b="1" i="0">
                <a:solidFill>
                  <a:srgbClr val="DDD1C1"/>
                </a:solidFill>
                <a:latin typeface="Aptos"/>
              </a:defRPr>
            </a:pPr>
            <a:r>
              <a:rPr sz="4000"/>
              <a:t>0</a:t>
            </a:r>
            <a:r>
              <a:rPr lang="en-US" sz="4000"/>
              <a:t>1</a:t>
            </a:r>
            <a:endParaRPr lang="en-US" sz="4000"/>
          </a:p>
        </p:txBody>
      </p:sp>
      <p:sp>
        <p:nvSpPr>
          <p:cNvPr id="7" name="TextBox 6"/>
          <p:cNvSpPr txBox="1"/>
          <p:nvPr/>
        </p:nvSpPr>
        <p:spPr>
          <a:xfrm>
            <a:off x="576072" y="1353312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 charset="0"/>
              </a:rPr>
              <a:t>D</a:t>
            </a:r>
            <a:r>
              <a:rPr lang="en-US" altLang="zh-CN">
                <a:solidFill>
                  <a:srgbClr val="FFFFFF"/>
                </a:solidFill>
                <a:latin typeface="Aptos" charset="0"/>
              </a:rPr>
              <a:t>ata understanding </a:t>
            </a:r>
            <a:r>
              <a:rPr lang="zh-CN" altLang="en-US">
                <a:solidFill>
                  <a:srgbClr val="FFFFFF"/>
                </a:solidFill>
                <a:latin typeface="Aptos" charset="0"/>
              </a:rPr>
              <a:t>&amp; </a:t>
            </a:r>
            <a:r>
              <a:rPr lang="en-US" altLang="zh-CN">
                <a:solidFill>
                  <a:srgbClr val="FFFFFF"/>
                </a:solidFill>
                <a:latin typeface="Aptos" charset="0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766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050" b="0" i="0">
                <a:solidFill>
                  <a:srgbClr val="DDD1C1"/>
                </a:solidFill>
                <a:latin typeface="Aptos"/>
              </a:defRPr>
            </a:pPr>
            <a:r>
              <a:rPr>
                <a:solidFill>
                  <a:srgbClr val="DDD1C1"/>
                </a:solidFill>
                <a:latin typeface="Aptos" charset="0"/>
              </a:rPr>
              <a:t>F</a:t>
            </a:r>
            <a:r>
              <a:rPr lang="en-US" altLang="zh-CN">
                <a:solidFill>
                  <a:srgbClr val="DDD1C1"/>
                </a:solidFill>
                <a:latin typeface="Aptos" charset="0"/>
              </a:rPr>
              <a:t>rom dataset to understand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94560"/>
            <a:ext cx="2148840" cy="18288"/>
          </a:xfrm>
          <a:prstGeom prst="rect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本框 37"/>
          <p:cNvSpPr txBox="1"/>
          <p:nvPr/>
        </p:nvSpPr>
        <p:spPr>
          <a:xfrm>
            <a:off x="575945" y="4391660"/>
            <a:ext cx="45720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50" b="0" i="0">
                <a:solidFill>
                  <a:srgbClr val="DDD1C1"/>
                </a:solidFill>
                <a:latin typeface="Aptos"/>
              </a:defRPr>
            </a:pPr>
            <a:r>
              <a:rPr lang="en-US">
                <a:sym typeface="+mn-ea"/>
              </a:rPr>
              <a:t>pre: </a:t>
            </a:r>
            <a:r>
              <a:rPr lang="en-US">
                <a:solidFill>
                  <a:srgbClr val="DDD1C1"/>
                </a:solidFill>
                <a:latin typeface="Aptos" charset="0"/>
                <a:sym typeface="+mn-ea"/>
              </a:rPr>
              <a:t>Z</a:t>
            </a:r>
            <a:r>
              <a:rPr lang="en-US" altLang="zh-CN">
                <a:solidFill>
                  <a:srgbClr val="DDD1C1"/>
                </a:solidFill>
                <a:latin typeface="Aptos" charset="0"/>
                <a:sym typeface="+mn-ea"/>
              </a:rPr>
              <a:t>huangtao Xiong</a:t>
            </a:r>
            <a:r>
              <a:rPr lang="en-US" altLang="zh-CN">
                <a:sym typeface="+mn-ea"/>
              </a:rPr>
              <a:t> 2430034081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780" b="1" i="0">
                <a:solidFill>
                  <a:srgbClr val="695F52"/>
                </a:solidFill>
                <a:latin typeface="Aptos"/>
              </a:defRPr>
            </a:pPr>
            <a:r>
              <a:t>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530151" cy="1601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Nova@MLW  ·</a:t>
            </a:r>
            <a:r>
              <a:rPr>
                <a:solidFill>
                  <a:srgbClr val="BCA997"/>
                </a:solidFill>
                <a:latin typeface="Aptos" charset="0"/>
              </a:rPr>
              <a:t>  Zhuangtao XIONG 2430034081</a:t>
            </a:r>
            <a:endParaRPr>
              <a:latin typeface="Apto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472" y="618499"/>
            <a:ext cx="7040880" cy="31418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0000"/>
          </a:bodyPr>
          <a:lstStyle/>
          <a:p>
            <a:pPr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t>Dataset Understanding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444752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45336"/>
            <a:ext cx="119786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2000" b="1" i="0">
                <a:solidFill>
                  <a:srgbClr val="206987"/>
                </a:solidFill>
                <a:latin typeface="Aptos"/>
              </a:defRPr>
            </a:pPr>
            <a:r>
              <a:t>8,693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65376"/>
            <a:ext cx="117957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t>training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6816" y="1444752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1545336"/>
            <a:ext cx="119786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2000" b="1" i="0">
                <a:solidFill>
                  <a:srgbClr val="3D7B5B"/>
                </a:solidFill>
                <a:latin typeface="Aptos"/>
              </a:defRPr>
            </a:pPr>
            <a:r>
              <a:t>4,277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1865376"/>
            <a:ext cx="117957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t>test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444752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545336"/>
            <a:ext cx="119786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2000" b="1" i="0">
                <a:solidFill>
                  <a:srgbClr val="B85B3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1865376"/>
            <a:ext cx="117957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t>train columns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377440"/>
            <a:ext cx="3495675" cy="16179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377440"/>
            <a:ext cx="54864" cy="1600200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487324"/>
            <a:ext cx="4005072" cy="2193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1200" b="1" i="0">
                <a:solidFill>
                  <a:srgbClr val="312B24"/>
                </a:solidFill>
                <a:latin typeface="Aptos"/>
              </a:defRPr>
            </a:pPr>
            <a:r>
              <a:t>Key dataset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" y="2706659"/>
            <a:ext cx="3156585" cy="10464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1.mixed data types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2.</a:t>
            </a:r>
            <a:r>
              <a:rPr lang="en-US" altLang="zh-CN" sz="1000" b="1">
                <a:solidFill>
                  <a:srgbClr val="695F52"/>
                </a:solidFill>
                <a:latin typeface="Aptos" charset="0"/>
              </a:rPr>
              <a:t>a lot of</a:t>
            </a:r>
            <a:r>
              <a:rPr lang="en-US" altLang="zh-CN" sz="1000" b="1"/>
              <a:t> missing values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3.hidden information in IDs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4.heavily skewed spending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5.strong non-linear feature interactions.</a:t>
            </a:r>
            <a:endParaRPr lang="en-US" altLang="zh-CN" sz="1000" b="1"/>
          </a:p>
        </p:txBody>
      </p:sp>
      <p:sp>
        <p:nvSpPr>
          <p:cNvPr id="28" name="圆角矩形 27"/>
          <p:cNvSpPr/>
          <p:nvPr/>
        </p:nvSpPr>
        <p:spPr>
          <a:xfrm>
            <a:off x="4803772" y="1865356"/>
            <a:ext cx="4276725" cy="2825115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>
                <a:solidFill>
                  <a:srgbClr val="FF0000"/>
                </a:solidFill>
              </a:rPr>
              <a:t>first thought: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Encoding: one</a:t>
            </a:r>
            <a:r>
              <a:rPr lang="zh-CN" altLang="en-US">
                <a:solidFill>
                  <a:schemeClr val="tx1"/>
                </a:solidFill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hot</a:t>
            </a:r>
            <a:r>
              <a:rPr lang="zh-CN" altLang="en-US">
                <a:solidFill>
                  <a:schemeClr val="tx1"/>
                </a:solidFill>
              </a:rPr>
              <a:t>?</a:t>
            </a:r>
            <a:r>
              <a:rPr lang="en-US" altLang="zh-CN">
                <a:solidFill>
                  <a:schemeClr val="tx1"/>
                </a:solidFill>
              </a:rPr>
              <a:t>...?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median/mean/mode imputation?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features engineering→  how</a:t>
            </a:r>
            <a:r>
              <a:rPr lang="zh-CN" altLang="en-US">
                <a:solidFill>
                  <a:schemeClr val="tx1"/>
                </a:solidFill>
              </a:rPr>
              <a:t>？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Transformation→ what method</a:t>
            </a:r>
            <a:r>
              <a:rPr lang="zh-CN" altLang="en-US">
                <a:solidFill>
                  <a:schemeClr val="tx1"/>
                </a:solidFill>
              </a:rPr>
              <a:t>？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Modeling→ logistic regression?...?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8970" y="4452620"/>
            <a:ext cx="4612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goal: make it easier for the model to predict</a:t>
            </a:r>
            <a:endParaRPr lang="en-US" altLang="zh-CN"/>
          </a:p>
        </p:txBody>
      </p:sp>
      <p:cxnSp>
        <p:nvCxnSpPr>
          <p:cNvPr id="26" name="直接箭头连接符 25"/>
          <p:cNvCxnSpPr/>
          <p:nvPr userDrawn="1"/>
        </p:nvCxnSpPr>
        <p:spPr>
          <a:xfrm>
            <a:off x="4097476" y="2996756"/>
            <a:ext cx="551705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69669" t="-244"/>
          <a:stretch>
            <a:fillRect/>
          </a:stretch>
        </p:blipFill>
        <p:spPr>
          <a:xfrm>
            <a:off x="5042079" y="1679245"/>
            <a:ext cx="3695086" cy="3197317"/>
          </a:xfrm>
          <a:prstGeom prst="rect">
            <a:avLst/>
          </a:prstGeom>
        </p:spPr>
      </p:pic>
      <p:pic>
        <p:nvPicPr>
          <p:cNvPr id="30" name="图片 29" descr="post_object_image_5154278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793" y="2029966"/>
            <a:ext cx="3628197" cy="2530366"/>
          </a:xfrm>
          <a:prstGeom prst="rect">
            <a:avLst/>
          </a:prstGeom>
        </p:spPr>
      </p:pic>
      <p:sp>
        <p:nvSpPr>
          <p:cNvPr id="34" name="Oval 1"/>
          <p:cNvSpPr/>
          <p:nvPr/>
        </p:nvSpPr>
        <p:spPr>
          <a:xfrm>
            <a:off x="130259" y="165660"/>
            <a:ext cx="279585" cy="29733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2"/>
          <p:cNvSpPr txBox="1"/>
          <p:nvPr/>
        </p:nvSpPr>
        <p:spPr>
          <a:xfrm>
            <a:off x="178594" y="211441"/>
            <a:ext cx="182915" cy="20575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1200">
                <a:solidFill>
                  <a:srgbClr val="FFFFFF"/>
                </a:solidFill>
                <a:latin typeface="Aptos" charset="0"/>
              </a:rPr>
              <a:t>0</a:t>
            </a:r>
            <a:r>
              <a:rPr lang="en-US" altLang="zh-CN" sz="1200">
                <a:solidFill>
                  <a:srgbClr val="FFFFFF"/>
                </a:solidFill>
                <a:latin typeface="Aptos" charset="0"/>
                <a:cs typeface="Arial" panose="020B0604020202020204" pitchFamily="34" charset="0"/>
              </a:rPr>
              <a:t>3</a:t>
            </a:r>
            <a:endParaRPr lang="en-US" altLang="zh-CN"/>
          </a:p>
        </p:txBody>
      </p:sp>
      <p:sp>
        <p:nvSpPr>
          <p:cNvPr id="38" name="TextBox 24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 lang="en-US" altLang="zh-CN">
                <a:solidFill>
                  <a:srgbClr val="BCA997"/>
                </a:solidFill>
                <a:latin typeface="Aptos" charset="0"/>
                <a:cs typeface="Arial" panose="020B0604020202020204" pitchFamily="34" charset="0"/>
              </a:rPr>
              <a:t>03</a:t>
            </a:r>
            <a:endParaRPr lang="en-US" altLang="zh-CN">
              <a:latin typeface="Aptos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347472" y="585216"/>
            <a:ext cx="70408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20000"/>
          </a:bodyPr>
          <a:lstStyle/>
          <a:p>
            <a:pPr algn="l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rPr lang="en-US" altLang="zh-CN"/>
              <a:t>EDA overview </a:t>
            </a:r>
            <a:endParaRPr lang="en-US" altLang="zh-CN"/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0000"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44752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45336"/>
            <a:ext cx="119786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2000" b="1" i="0">
                <a:solidFill>
                  <a:srgbClr val="206987"/>
                </a:solidFill>
                <a:latin typeface="Aptos"/>
              </a:defRPr>
            </a:pPr>
            <a:r>
              <a:t>8,693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65376"/>
            <a:ext cx="117957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t>training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6816" y="1444752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1545336"/>
            <a:ext cx="119786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2000" b="1" i="0">
                <a:solidFill>
                  <a:srgbClr val="3D7B5B"/>
                </a:solidFill>
                <a:latin typeface="Aptos"/>
              </a:defRPr>
            </a:pPr>
            <a:r>
              <a:t>4,277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1865376"/>
            <a:ext cx="117957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t>test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444752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545336"/>
            <a:ext cx="119786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2000" b="1" i="0">
                <a:solidFill>
                  <a:srgbClr val="B85B3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1865376"/>
            <a:ext cx="117957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t>train columns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377458"/>
            <a:ext cx="4030013" cy="244140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>
              <a:solidFill>
                <a:srgbClr val="000000"/>
              </a:solidFill>
            </a:endParaRPr>
          </a:p>
          <a:p>
            <a:pPr algn="ctr"/>
            <a:endParaRPr lang="en-US" altLang="zh-CN" sz="200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2377440"/>
            <a:ext cx="73130" cy="2441424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49" y="4818888"/>
            <a:ext cx="402319" cy="17900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>
                <a:solidFill>
                  <a:srgbClr val="BCA997"/>
                </a:solidFill>
                <a:latin typeface="Aptos" charset="0"/>
              </a:rPr>
              <a:t>0</a:t>
            </a:r>
            <a:r>
              <a:rPr lang="en-US" altLang="zh-CN">
                <a:solidFill>
                  <a:srgbClr val="BCA997"/>
                </a:solidFill>
                <a:latin typeface="Aptos" charset="0"/>
                <a:cs typeface="Arial" panose="020B0604020202020204" pitchFamily="34" charset="0"/>
              </a:rPr>
              <a:t>4</a:t>
            </a:r>
            <a:endParaRPr lang="en-US" altLang="zh-CN">
              <a:solidFill>
                <a:srgbClr val="BCA997"/>
              </a:solidFill>
              <a:latin typeface="Aptos" charset="0"/>
              <a:cs typeface="Arial" panose="020B0604020202020204" pitchFamily="34" charset="0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864100" y="1786255"/>
            <a:ext cx="4276725" cy="2825115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-138" r="63540"/>
          <a:stretch>
            <a:fillRect/>
          </a:stretch>
        </p:blipFill>
        <p:spPr>
          <a:xfrm>
            <a:off x="5332730" y="1868170"/>
            <a:ext cx="3288665" cy="264795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l="36194" r="31771"/>
          <a:stretch>
            <a:fillRect/>
          </a:stretch>
        </p:blipFill>
        <p:spPr>
          <a:xfrm>
            <a:off x="5318125" y="1776730"/>
            <a:ext cx="3347085" cy="283464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69669" t="-244"/>
          <a:stretch>
            <a:fillRect/>
          </a:stretch>
        </p:blipFill>
        <p:spPr>
          <a:xfrm>
            <a:off x="5318125" y="1632585"/>
            <a:ext cx="3333115" cy="304736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6203315" y="2377440"/>
            <a:ext cx="2346325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bimodal pattern</a:t>
            </a:r>
            <a:endParaRPr lang="en-US" altLang="zh-CN" sz="2000">
              <a:solidFill>
                <a:srgbClr val="FF0000"/>
              </a:solidFill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6860540" y="2853690"/>
            <a:ext cx="655320" cy="6978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6203315" y="2853690"/>
            <a:ext cx="657225" cy="4978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post_object_image_26016104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59" y="1725862"/>
            <a:ext cx="4326156" cy="3093002"/>
          </a:xfrm>
          <a:prstGeom prst="rect">
            <a:avLst/>
          </a:prstGeom>
        </p:spPr>
      </p:pic>
      <p:sp>
        <p:nvSpPr>
          <p:cNvPr id="24" name="Oval 1"/>
          <p:cNvSpPr/>
          <p:nvPr/>
        </p:nvSpPr>
        <p:spPr>
          <a:xfrm>
            <a:off x="130259" y="165660"/>
            <a:ext cx="279585" cy="29733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"/>
          <p:cNvSpPr txBox="1"/>
          <p:nvPr/>
        </p:nvSpPr>
        <p:spPr>
          <a:xfrm>
            <a:off x="178594" y="211441"/>
            <a:ext cx="182915" cy="20575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1200">
                <a:solidFill>
                  <a:srgbClr val="FFFFFF"/>
                </a:solidFill>
                <a:latin typeface="Aptos" charset="0"/>
              </a:rPr>
              <a:t>0</a:t>
            </a:r>
            <a:r>
              <a:rPr lang="en-US" altLang="zh-CN" sz="1200">
                <a:solidFill>
                  <a:srgbClr val="FFFFFF"/>
                </a:solidFill>
                <a:latin typeface="Aptos" charset="0"/>
                <a:cs typeface="Arial" panose="020B0604020202020204" pitchFamily="34" charset="0"/>
              </a:rPr>
              <a:t>4</a:t>
            </a:r>
            <a:endParaRPr lang="en-US" altLang="zh-CN"/>
          </a:p>
        </p:txBody>
      </p:sp>
      <p:sp>
        <p:nvSpPr>
          <p:cNvPr id="30" name="TextBox 3"/>
          <p:cNvSpPr txBox="1"/>
          <p:nvPr/>
        </p:nvSpPr>
        <p:spPr>
          <a:xfrm>
            <a:off x="502920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780" b="1" i="0">
                <a:solidFill>
                  <a:srgbClr val="695F52"/>
                </a:solidFill>
                <a:latin typeface="Aptos"/>
              </a:defRPr>
            </a:pPr>
            <a:r>
              <a:t> </a:t>
            </a:r>
            <a:r>
              <a:rPr lang="en-US" altLang="zh-CN"/>
              <a:t>EDA overview</a:t>
            </a:r>
            <a:endParaRPr lang="en-US" altLang="zh-CN"/>
          </a:p>
          <a:p>
            <a:pPr>
              <a:defRPr sz="780" b="1" i="0">
                <a:solidFill>
                  <a:srgbClr val="695F52"/>
                </a:solidFill>
                <a:latin typeface="Aptos"/>
              </a:defRPr>
            </a:pPr>
          </a:p>
        </p:txBody>
      </p:sp>
      <p:sp>
        <p:nvSpPr>
          <p:cNvPr id="31" name="TextBox 4"/>
          <p:cNvSpPr txBox="1"/>
          <p:nvPr/>
        </p:nvSpPr>
        <p:spPr>
          <a:xfrm>
            <a:off x="530352" y="320040"/>
            <a:ext cx="2530151" cy="1601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Nova@MLW  ·</a:t>
            </a:r>
            <a:r>
              <a:rPr>
                <a:solidFill>
                  <a:srgbClr val="BCA997"/>
                </a:solidFill>
                <a:latin typeface="Aptos" charset="0"/>
              </a:rPr>
              <a:t>  Zhuangtao XIONG 2430034081</a:t>
            </a:r>
            <a:endParaRPr>
              <a:latin typeface="Aptos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940597" y="2721543"/>
            <a:ext cx="3154680" cy="175323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/>
              <a:t>Not Transported: 50.4%</a:t>
            </a:r>
            <a:endParaRPr lang="en-US" altLang="zh-CN"/>
          </a:p>
          <a:p>
            <a:r>
              <a:rPr lang="en-US" altLang="zh-CN"/>
              <a:t>Transported: 49.6%</a:t>
            </a:r>
            <a:endParaRPr lang="en-US" altLang="zh-CN"/>
          </a:p>
          <a:p>
            <a:r>
              <a:rPr lang="en-US" altLang="zh-CN"/>
              <a:t>Key finding: </a:t>
            </a:r>
            <a:endParaRPr lang="en-US" altLang="zh-CN"/>
          </a:p>
          <a:p>
            <a:r>
              <a:rPr lang="en-US" altLang="zh-CN"/>
              <a:t>The target classes are highly balanced, nearly 50:50.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0" name="文本框 39"/>
          <p:cNvSpPr txBox="1"/>
          <p:nvPr userDrawn="1"/>
        </p:nvSpPr>
        <p:spPr>
          <a:xfrm>
            <a:off x="735749" y="2387034"/>
            <a:ext cx="3564450" cy="235159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Bimodal distribution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Pink = Not Transported, Blue = Transported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Non-transported passengers tend to spend more money.</a:t>
            </a:r>
            <a:endParaRPr lang="en-US" altLang="zh-CN"/>
          </a:p>
        </p:txBody>
      </p:sp>
      <p:sp>
        <p:nvSpPr>
          <p:cNvPr id="41" name="文本框 40"/>
          <p:cNvSpPr txBox="1"/>
          <p:nvPr userDrawn="1"/>
        </p:nvSpPr>
        <p:spPr>
          <a:xfrm>
            <a:off x="735749" y="2942563"/>
            <a:ext cx="4374987" cy="154535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/>
              <a:t>right-skewed unimodal distribution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most young adults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38" grpId="1"/>
      <p:bldP spid="40" grpId="0"/>
      <p:bldP spid="41" grpId="0"/>
      <p:bldP spid="4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30352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80" b="1" i="0">
                <a:solidFill>
                  <a:srgbClr val="695F52"/>
                </a:solidFill>
                <a:latin typeface="Aptos"/>
              </a:defRPr>
            </a:pPr>
            <a:r>
              <a:rPr lang="en-US" altLang="zh-CN"/>
              <a:t>Exploratory Data Analysis</a:t>
            </a:r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 lang="en-US" altLang="zh-CN"/>
              <a:t>Nova@MLW  ·  </a:t>
            </a:r>
            <a:r>
              <a:rPr lang="en-US" altLang="zh-CN">
                <a:solidFill>
                  <a:srgbClr val="BCA997"/>
                </a:solidFill>
                <a:latin typeface="Aptos" charset="0"/>
              </a:rPr>
              <a:t>Zhuangtao XIONG 2430034081</a:t>
            </a:r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347472" y="585216"/>
            <a:ext cx="70408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t>EDA Findings: Missingness and Spending 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457200" y="1417320"/>
            <a:ext cx="39319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566928" y="1490472"/>
            <a:ext cx="371246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50" b="1" i="0">
                <a:solidFill>
                  <a:srgbClr val="695F52"/>
                </a:solidFill>
                <a:latin typeface="Aptos"/>
              </a:defRPr>
            </a:pPr>
            <a:r>
              <a:t>Missing values in train/test</a:t>
            </a:r>
          </a:p>
        </p:txBody>
      </p:sp>
      <p:pic>
        <p:nvPicPr>
          <p:cNvPr id="13" name="Picture 12" descr="slide05_img1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6928" y="1751306"/>
            <a:ext cx="3712463" cy="1572306"/>
          </a:xfrm>
          <a:prstGeom prst="rect">
            <a:avLst/>
          </a:prstGeom>
        </p:spPr>
      </p:pic>
      <p:sp>
        <p:nvSpPr>
          <p:cNvPr id="14" name="Rounded Rectangle 13"/>
          <p:cNvSpPr/>
          <p:nvPr>
            <p:custDataLst>
              <p:tags r:id="rId5"/>
            </p:custDataLst>
          </p:nvPr>
        </p:nvSpPr>
        <p:spPr>
          <a:xfrm>
            <a:off x="4709160" y="1417320"/>
            <a:ext cx="39319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4818888" y="1490472"/>
            <a:ext cx="371246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50" b="1" i="0">
                <a:solidFill>
                  <a:srgbClr val="695F52"/>
                </a:solidFill>
                <a:latin typeface="Aptos"/>
              </a:defRPr>
            </a:pPr>
            <a:r>
              <a:t>Spending distribution and outliers</a:t>
            </a:r>
          </a:p>
        </p:txBody>
      </p:sp>
      <p:sp>
        <p:nvSpPr>
          <p:cNvPr id="17" name="Rounded Rectangle 16"/>
          <p:cNvSpPr/>
          <p:nvPr>
            <p:custDataLst>
              <p:tags r:id="rId7"/>
            </p:custDataLst>
          </p:nvPr>
        </p:nvSpPr>
        <p:spPr>
          <a:xfrm>
            <a:off x="457200" y="3703320"/>
            <a:ext cx="39319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457200" y="3703320"/>
            <a:ext cx="54864" cy="777240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603504" y="3813048"/>
            <a:ext cx="3703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960" b="1" i="0">
                <a:solidFill>
                  <a:srgbClr val="312B24"/>
                </a:solidFill>
                <a:latin typeface="Aptos"/>
              </a:defRPr>
            </a:pPr>
            <a:r>
              <a:rPr lang="en-US" altLang="zh-CN"/>
              <a:t>Train/test missing patterns match, use one strategy</a:t>
            </a:r>
            <a:endParaRPr lang="en-US" altLang="zh-CN"/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594376" y="3974149"/>
            <a:ext cx="3657600" cy="448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2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Numeric features: Fill with median</a:t>
            </a:r>
            <a:endParaRPr lang="en-US" altLang="zh-CN" sz="800" b="1"/>
          </a:p>
          <a:p>
            <a:pPr algn="l">
              <a:defRPr sz="72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Categorical features: Fill with mode</a:t>
            </a:r>
            <a:endParaRPr lang="en-US" altLang="zh-CN" sz="800" b="1"/>
          </a:p>
          <a:p>
            <a:pPr algn="l">
              <a:defRPr sz="72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Special fields(name/ID): Fill with constant + add missingness flags</a:t>
            </a:r>
            <a:endParaRPr lang="en-US" altLang="zh-CN" sz="800" b="1"/>
          </a:p>
        </p:txBody>
      </p:sp>
      <p:sp>
        <p:nvSpPr>
          <p:cNvPr id="21" name="Rounded Rectangle 20"/>
          <p:cNvSpPr/>
          <p:nvPr>
            <p:custDataLst>
              <p:tags r:id="rId11"/>
            </p:custDataLst>
          </p:nvPr>
        </p:nvSpPr>
        <p:spPr>
          <a:xfrm>
            <a:off x="4709160" y="3703320"/>
            <a:ext cx="39319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4709160" y="3703320"/>
            <a:ext cx="54864" cy="777240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3"/>
            </p:custDataLst>
          </p:nvPr>
        </p:nvSpPr>
        <p:spPr>
          <a:xfrm>
            <a:off x="4855492" y="3813016"/>
            <a:ext cx="3703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960" b="1" i="0">
                <a:solidFill>
                  <a:srgbClr val="312B24"/>
                </a:solidFill>
                <a:latin typeface="Aptos"/>
              </a:defRPr>
            </a:pPr>
            <a:r>
              <a:rPr>
                <a:solidFill>
                  <a:srgbClr val="312B24"/>
                </a:solidFill>
                <a:latin typeface="Aptos" charset="0"/>
              </a:rPr>
              <a:t>l</a:t>
            </a:r>
            <a:r>
              <a:rPr lang="en-US" altLang="zh-CN">
                <a:solidFill>
                  <a:srgbClr val="312B24"/>
                </a:solidFill>
                <a:latin typeface="Aptos" charset="0"/>
              </a:rPr>
              <a:t>ong </a:t>
            </a:r>
            <a:r>
              <a:rPr lang="en-US" altLang="zh-CN">
                <a:solidFill>
                  <a:srgbClr val="312B24"/>
                </a:solidFill>
                <a:latin typeface="Aptos" charset="0"/>
                <a:cs typeface="Arial" panose="020B0604020202020204" pitchFamily="34" charset="0"/>
              </a:rPr>
              <a:t>tail:</a:t>
            </a:r>
            <a:endParaRPr lang="en-US" altLang="zh-CN">
              <a:solidFill>
                <a:srgbClr val="312B24"/>
              </a:solidFill>
              <a:latin typeface="Aptos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4855492" y="3962967"/>
            <a:ext cx="3657600" cy="4592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20000"/>
          </a:bodyPr>
          <a:lstStyle/>
          <a:p>
            <a:pPr algn="l">
              <a:defRPr sz="72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Skewed spending (long tail)</a:t>
            </a:r>
            <a:endParaRPr lang="en-US" altLang="zh-CN" sz="800" b="1"/>
          </a:p>
          <a:p>
            <a:pPr algn="l">
              <a:defRPr sz="72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Higher spending passenger→ less likely to be transported</a:t>
            </a:r>
            <a:endParaRPr lang="en-US" altLang="zh-CN" sz="800" b="1"/>
          </a:p>
          <a:p>
            <a:pPr algn="l">
              <a:defRPr sz="72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many people do not spend money.</a:t>
            </a:r>
            <a:endParaRPr lang="en-US" altLang="zh-CN" sz="800" b="1"/>
          </a:p>
        </p:txBody>
      </p:sp>
      <p:sp>
        <p:nvSpPr>
          <p:cNvPr id="25" name="TextBox 24"/>
          <p:cNvSpPr txBox="1"/>
          <p:nvPr/>
        </p:nvSpPr>
        <p:spPr>
          <a:xfrm>
            <a:off x="8623398" y="4818888"/>
            <a:ext cx="255398" cy="1786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>
                <a:solidFill>
                  <a:srgbClr val="BCA997"/>
                </a:solidFill>
                <a:latin typeface="Aptos" charset="0"/>
              </a:rPr>
              <a:t>0</a:t>
            </a:r>
            <a:r>
              <a:rPr lang="en-US" altLang="zh-CN">
                <a:solidFill>
                  <a:srgbClr val="BCA997"/>
                </a:solidFill>
                <a:latin typeface="Aptos" charset="0"/>
                <a:cs typeface="Arial" panose="020B0604020202020204" pitchFamily="34" charset="0"/>
              </a:rPr>
              <a:t>5</a:t>
            </a:r>
            <a:endParaRPr lang="en-US" altLang="zh-CN">
              <a:solidFill>
                <a:srgbClr val="BCA997"/>
              </a:solidFill>
              <a:latin typeface="Aptos" charset="0"/>
              <a:cs typeface="Arial" panose="020B0604020202020204" pitchFamily="34" charset="0"/>
            </a:endParaRPr>
          </a:p>
        </p:txBody>
      </p:sp>
      <p:pic>
        <p:nvPicPr>
          <p:cNvPr id="26" name="Picture 12" descr="slide05_img1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0098" y="1779246"/>
            <a:ext cx="3712463" cy="1572306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30259" y="165660"/>
            <a:ext cx="279585" cy="29733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2"/>
          <p:cNvSpPr txBox="1"/>
          <p:nvPr/>
        </p:nvSpPr>
        <p:spPr>
          <a:xfrm>
            <a:off x="178594" y="211441"/>
            <a:ext cx="182915" cy="20575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1200">
                <a:solidFill>
                  <a:srgbClr val="FFFFFF"/>
                </a:solidFill>
                <a:latin typeface="Aptos" charset="0"/>
              </a:rPr>
              <a:t>0</a:t>
            </a:r>
            <a:r>
              <a:rPr lang="en-US" altLang="zh-CN" sz="1200">
                <a:solidFill>
                  <a:srgbClr val="FFFFFF"/>
                </a:solidFill>
                <a:latin typeface="Aptos" charset="0"/>
                <a:cs typeface="Arial" panose="020B0604020202020204" pitchFamily="34" charset="0"/>
              </a:rPr>
              <a:t>5</a:t>
            </a:r>
            <a:endParaRPr lang="en-US" altLang="zh-CN"/>
          </a:p>
        </p:txBody>
      </p:sp>
      <p:pic>
        <p:nvPicPr>
          <p:cNvPr id="3" name="图片 2" descr="post_object_image_3104786281"/>
          <p:cNvPicPr>
            <a:picLocks noChangeAspect="1"/>
          </p:cNvPicPr>
          <p:nvPr/>
        </p:nvPicPr>
        <p:blipFill>
          <a:blip r:embed="rId16"/>
          <a:srcRect l="1750" t="2553" r="1346" b="6713"/>
          <a:stretch>
            <a:fillRect/>
          </a:stretch>
        </p:blipFill>
        <p:spPr>
          <a:xfrm>
            <a:off x="4764051" y="1655068"/>
            <a:ext cx="3868532" cy="1574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30352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80" b="1" i="0">
                <a:solidFill>
                  <a:srgbClr val="695F52"/>
                </a:solidFill>
                <a:latin typeface="Aptos"/>
              </a:defRPr>
            </a:pPr>
            <a:r>
              <a:rPr lang="en-US" altLang="zh-CN"/>
              <a:t>Exploratory Data Analysis</a:t>
            </a:r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 lang="en-US" altLang="zh-CN"/>
              <a:t>Nova@MLW  ·  </a:t>
            </a:r>
            <a:r>
              <a:rPr lang="en-US" altLang="zh-CN">
                <a:solidFill>
                  <a:srgbClr val="BCA997"/>
                </a:solidFill>
                <a:latin typeface="Aptos" charset="0"/>
              </a:rPr>
              <a:t>Zhuangtao XIONG 2430034081</a:t>
            </a:r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347472" y="585216"/>
            <a:ext cx="70408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t>EDA Findings: Strong Categorical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53312"/>
            <a:ext cx="3977639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426464"/>
            <a:ext cx="375818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50" b="1" i="0">
                <a:solidFill>
                  <a:srgbClr val="695F52"/>
                </a:solidFill>
                <a:latin typeface="Aptos"/>
              </a:defRPr>
            </a:pPr>
            <a:r>
              <a:t>Transport rates by categorical feature</a:t>
            </a:r>
          </a:p>
        </p:txBody>
      </p:sp>
      <p:pic>
        <p:nvPicPr>
          <p:cNvPr id="13" name="Picture 12" descr="slide06_im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054" y="1627632"/>
            <a:ext cx="3579371" cy="30632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00600" y="1353312"/>
            <a:ext cx="37947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1353312"/>
            <a:ext cx="54864" cy="1508760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1463040"/>
            <a:ext cx="35661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200" b="1" i="0">
                <a:solidFill>
                  <a:srgbClr val="312B24"/>
                </a:solidFill>
                <a:latin typeface="Aptos"/>
              </a:defRPr>
            </a:pPr>
            <a:r>
              <a:t>What the plots told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1746504"/>
            <a:ext cx="3602757" cy="111556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b="1">
                <a:solidFill>
                  <a:srgbClr val="000000"/>
                </a:solidFill>
              </a:rPr>
              <a:t>• Europa passengers have higher transported rate than Earth</a:t>
            </a:r>
            <a:endParaRPr b="1">
              <a:solidFill>
                <a:srgbClr val="000000"/>
              </a:solidFill>
            </a:endParaRPr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b="1">
                <a:solidFill>
                  <a:srgbClr val="000000"/>
                </a:solidFill>
              </a:rPr>
              <a:t>• Destination changes transported rate</a:t>
            </a:r>
            <a:endParaRPr b="1">
              <a:solidFill>
                <a:srgbClr val="000000"/>
              </a:solidFill>
            </a:endParaRPr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b="1">
                <a:solidFill>
                  <a:srgbClr val="000000"/>
                </a:solidFill>
              </a:rPr>
              <a:t>• CryoSleep sharply separates transported probability</a:t>
            </a:r>
            <a:endParaRPr b="1">
              <a:solidFill>
                <a:srgbClr val="000000"/>
              </a:solidFill>
            </a:endParaRPr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b="1">
                <a:solidFill>
                  <a:srgbClr val="000000"/>
                </a:solidFill>
              </a:rPr>
              <a:t>• VIP shows a weaker negative relationship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0" y="3127248"/>
            <a:ext cx="37947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127248"/>
            <a:ext cx="54864" cy="1188720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6904" y="3236976"/>
            <a:ext cx="35661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100" b="1" i="0">
                <a:solidFill>
                  <a:srgbClr val="312B24"/>
                </a:solidFill>
                <a:latin typeface="Aptos"/>
              </a:defRPr>
            </a:pPr>
            <a:r>
              <a:t>So we created interactions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3520440"/>
            <a:ext cx="35204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000" b="0" i="0">
                <a:solidFill>
                  <a:srgbClr val="695F52"/>
                </a:solidFill>
                <a:latin typeface="Aptos"/>
              </a:defRPr>
            </a:pPr>
            <a:r>
              <a:rPr b="1"/>
              <a:t>CryoAndNoSpend · CryoAndSpend </a:t>
            </a:r>
            <a:r>
              <a:rPr lang="en-US" altLang="zh-CN" b="1"/>
              <a:t>(frozen or not)/</a:t>
            </a:r>
            <a:r>
              <a:rPr b="1"/>
              <a:t> </a:t>
            </a:r>
            <a:endParaRPr b="1"/>
          </a:p>
          <a:p>
            <a:pPr algn="l">
              <a:defRPr sz="1000" b="0" i="0">
                <a:solidFill>
                  <a:srgbClr val="695F52"/>
                </a:solidFill>
                <a:latin typeface="Aptos"/>
              </a:defRPr>
            </a:pPr>
            <a:r>
              <a:rPr b="1"/>
              <a:t>HomePlanet_Destination</a:t>
            </a:r>
            <a:r>
              <a:rPr lang="en-US" altLang="zh-CN" b="1"/>
              <a:t>(route)</a:t>
            </a:r>
            <a:r>
              <a:rPr b="1"/>
              <a:t> · group-level counts</a:t>
            </a:r>
            <a:r>
              <a:rPr lang="en-US" altLang="zh-CN" b="1"/>
              <a:t>(family)</a:t>
            </a:r>
            <a:endParaRPr b="1"/>
          </a:p>
        </p:txBody>
      </p:sp>
      <p:sp>
        <p:nvSpPr>
          <p:cNvPr id="22" name="TextBox 21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>
                <a:solidFill>
                  <a:srgbClr val="BCA997"/>
                </a:solidFill>
                <a:latin typeface="Aptos" charset="0"/>
              </a:rPr>
              <a:t>0</a:t>
            </a:r>
            <a:r>
              <a:rPr lang="en-US" altLang="zh-CN">
                <a:solidFill>
                  <a:srgbClr val="BCA997"/>
                </a:solidFill>
                <a:latin typeface="Aptos" charset="0"/>
                <a:cs typeface="Arial" panose="020B0604020202020204" pitchFamily="34" charset="0"/>
              </a:rPr>
              <a:t>7</a:t>
            </a:r>
            <a:endParaRPr lang="en-US" altLang="zh-CN">
              <a:solidFill>
                <a:srgbClr val="BCA997"/>
              </a:solidFill>
              <a:latin typeface="Aptos" charset="0"/>
              <a:cs typeface="Arial" panose="020B060402020202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130259" y="165660"/>
            <a:ext cx="279585" cy="29733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2"/>
          <p:cNvSpPr txBox="1"/>
          <p:nvPr/>
        </p:nvSpPr>
        <p:spPr>
          <a:xfrm>
            <a:off x="178594" y="211441"/>
            <a:ext cx="182915" cy="20575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1200">
                <a:solidFill>
                  <a:srgbClr val="FFFFFF"/>
                </a:solidFill>
                <a:latin typeface="Aptos" charset="0"/>
              </a:rPr>
              <a:t>0</a:t>
            </a:r>
            <a:r>
              <a:rPr lang="en-US" altLang="zh-CN" sz="1200">
                <a:solidFill>
                  <a:srgbClr val="FFFFFF"/>
                </a:solidFill>
                <a:latin typeface="Aptos" charset="0"/>
                <a:cs typeface="Arial" panose="020B0604020202020204" pitchFamily="34" charset="0"/>
              </a:rPr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263640" y="-1051560"/>
            <a:ext cx="2331720" cy="2331720"/>
          </a:xfrm>
          <a:prstGeom prst="ellipse">
            <a:avLst/>
          </a:prstGeom>
          <a:solidFill>
            <a:srgbClr val="3E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6839712" y="2313432"/>
            <a:ext cx="2514600" cy="96012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7936992" y="1353312"/>
            <a:ext cx="1600200" cy="59436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694944"/>
            <a:ext cx="1051560" cy="73152"/>
          </a:xfrm>
          <a:prstGeom prst="rect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5945" y="802640"/>
            <a:ext cx="1189355" cy="50482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rgbClr val="DDD1C1"/>
                </a:solidFill>
                <a:latin typeface="Aptos"/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DDD1C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lang="en-US" sz="4000" b="1" dirty="0">
                <a:solidFill>
                  <a:srgbClr val="DDD1C1"/>
                </a:solidFill>
                <a:latin typeface="Aptos"/>
              </a:rPr>
              <a:t>2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DD1C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" y="1353312"/>
            <a:ext cx="7360911" cy="6674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lvl="0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2600" dirty="0"/>
              <a:t>Preprocessing </a:t>
            </a:r>
            <a:r>
              <a:rPr lang="zh-CN" altLang="en-US" sz="2600" dirty="0"/>
              <a:t>&amp; </a:t>
            </a:r>
            <a:r>
              <a:rPr lang="en-US" altLang="zh-CN" sz="2600" dirty="0"/>
              <a:t>Models Selection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21" y="2020816"/>
            <a:ext cx="6766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lvl="0">
              <a:defRPr sz="1050" b="0" i="0">
                <a:solidFill>
                  <a:srgbClr val="DDD1C1"/>
                </a:solidFill>
                <a:latin typeface="Aptos"/>
              </a:defRPr>
            </a:pPr>
            <a:r>
              <a:rPr lang="en-US" altLang="zh-CN" sz="1100" dirty="0"/>
              <a:t>Why Logistic Regression and SVM are not enough</a:t>
            </a:r>
            <a:endParaRPr kumimoji="0" sz="1100" i="0" u="none" strike="noStrike" kern="1200" cap="none" spc="0" normalizeH="0" baseline="0" noProof="0" dirty="0">
              <a:ln>
                <a:noFill/>
              </a:ln>
              <a:solidFill>
                <a:srgbClr val="DDD1C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21" y="2401400"/>
            <a:ext cx="2148840" cy="18288"/>
          </a:xfrm>
          <a:prstGeom prst="rect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30324" y="4307822"/>
            <a:ext cx="7847619" cy="354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 i="0">
                <a:solidFill>
                  <a:srgbClr val="DDD1C1"/>
                </a:solidFill>
                <a:latin typeface="Aptos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D1C1"/>
                </a:solidFill>
                <a:effectLst/>
                <a:uLnTx/>
                <a:uFillTx/>
                <a:latin typeface="Aptos"/>
                <a:ea typeface="+mn-ea"/>
                <a:cs typeface="+mn-cs"/>
                <a:sym typeface="+mn-ea"/>
              </a:rPr>
              <a:t>pre: </a:t>
            </a:r>
            <a:r>
              <a:rPr lang="en-US" sz="1400" noProof="0" dirty="0">
                <a:ln>
                  <a:noFill/>
                </a:ln>
                <a:solidFill>
                  <a:srgbClr val="DDD1C1"/>
                </a:solidFill>
                <a:effectLst/>
                <a:uLnTx/>
                <a:uFillTx/>
                <a:latin typeface="Aptos" charset="0"/>
                <a:ea typeface="+mn-ea"/>
                <a:cs typeface="+mn-cs"/>
                <a:sym typeface="+mn-ea"/>
              </a:rPr>
              <a:t>Z</a:t>
            </a:r>
            <a:r>
              <a:rPr lang="en-US" altLang="zh-CN" sz="1400" noProof="0" dirty="0">
                <a:ln>
                  <a:noFill/>
                </a:ln>
                <a:solidFill>
                  <a:srgbClr val="DDD1C1"/>
                </a:solidFill>
                <a:effectLst/>
                <a:uLnTx/>
                <a:uFillTx/>
                <a:latin typeface="Aptos" charset="0"/>
                <a:ea typeface="+mn-ea"/>
                <a:cs typeface="+mn-cs"/>
                <a:sym typeface="+mn-ea"/>
              </a:rPr>
              <a:t>irui Su</a:t>
            </a:r>
            <a:r>
              <a:rPr lang="zh-CN" altLang="en-US" sz="1400" dirty="0">
                <a:solidFill>
                  <a:srgbClr val="DDD1C1"/>
                </a:solidFill>
                <a:latin typeface="Aptos"/>
                <a:ea typeface="宋体" pitchFamily="2" charset="-122"/>
                <a:sym typeface="+mn-ea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DD1C1"/>
                </a:solidFill>
                <a:effectLst/>
                <a:uLnTx/>
                <a:uFillTx/>
                <a:latin typeface="Aptos"/>
                <a:ea typeface="宋体" pitchFamily="2" charset="-122"/>
                <a:cs typeface="+mn-cs"/>
                <a:sym typeface="+mn-ea"/>
              </a:rPr>
              <a:t>2430034081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DD1C1"/>
              </a:solidFill>
              <a:effectLst/>
              <a:uLnTx/>
              <a:uFillTx/>
              <a:latin typeface="Aptos"/>
              <a:ea typeface="宋体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82880"/>
            <a:ext cx="210312" cy="210312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3" y="228581"/>
            <a:ext cx="155448" cy="1188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80" b="1" i="0">
                <a:solidFill>
                  <a:srgbClr val="695F52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Nova@MLW  ·  </a:t>
            </a:r>
            <a:r>
              <a:rPr>
                <a:solidFill>
                  <a:srgbClr val="BCA997"/>
                </a:solidFill>
                <a:latin typeface="Aptos" charset="0"/>
              </a:rPr>
              <a:t>Zirui SU 2430034058</a:t>
            </a:r>
            <a:endParaRPr>
              <a:solidFill>
                <a:srgbClr val="BCA997"/>
              </a:solidFill>
              <a:latin typeface="Apto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487" y="530324"/>
            <a:ext cx="7378035" cy="4672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rPr sz="2400"/>
              <a:t>Feature Engineering </a:t>
            </a:r>
            <a:r>
              <a:rPr lang="zh-CN" altLang="en-US" sz="2400"/>
              <a:t>&amp; </a:t>
            </a:r>
            <a:r>
              <a:rPr lang="en-US" altLang="zh-CN" sz="2400"/>
              <a:t>Preprocessing</a:t>
            </a:r>
            <a:endParaRPr lang="en-US" altLang="zh-CN" sz="2400"/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44168"/>
            <a:ext cx="50749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44168"/>
            <a:ext cx="54864" cy="438912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0" y="1424143"/>
            <a:ext cx="817922" cy="27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Group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1637661" y="1399009"/>
            <a:ext cx="1715740" cy="329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sz="900"/>
              <a:t>GroupId, PassengerNo</a:t>
            </a:r>
            <a:endParaRPr sz="900"/>
          </a:p>
        </p:txBody>
      </p:sp>
      <p:sp>
        <p:nvSpPr>
          <p:cNvPr id="15" name="TextBox 14"/>
          <p:cNvSpPr txBox="1"/>
          <p:nvPr/>
        </p:nvSpPr>
        <p:spPr>
          <a:xfrm>
            <a:off x="3593592" y="1408176"/>
            <a:ext cx="1783080" cy="29488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sz="800" b="1"/>
              <a:t>same group </a:t>
            </a:r>
            <a:r>
              <a:rPr sz="800" b="1">
                <a:solidFill>
                  <a:srgbClr val="695F52"/>
                </a:solidFill>
                <a:latin typeface="Aptos" charset="0"/>
              </a:rPr>
              <a:t>u</a:t>
            </a: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sually have same</a:t>
            </a:r>
            <a:r>
              <a:rPr sz="800" b="1"/>
              <a:t> outcome patterns</a:t>
            </a:r>
            <a:endParaRPr sz="800" b="1"/>
          </a:p>
        </p:txBody>
      </p:sp>
      <p:sp>
        <p:nvSpPr>
          <p:cNvPr id="16" name="Rounded Rectangle 15"/>
          <p:cNvSpPr/>
          <p:nvPr/>
        </p:nvSpPr>
        <p:spPr>
          <a:xfrm>
            <a:off x="457200" y="1874519"/>
            <a:ext cx="50749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74519"/>
            <a:ext cx="54864" cy="438912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0" y="1953279"/>
            <a:ext cx="817913" cy="2814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Cabin</a:t>
            </a:r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1637661" y="1945917"/>
            <a:ext cx="1843602" cy="2961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900"/>
              <a:t>CabinD</a:t>
            </a:r>
            <a:r>
              <a:rPr sz="900"/>
              <a:t>eck, CabinNum, </a:t>
            </a:r>
            <a:r>
              <a:rPr lang="en-US" altLang="zh-CN" sz="900"/>
              <a:t>Cabin</a:t>
            </a:r>
            <a:r>
              <a:rPr sz="900"/>
              <a:t>Side</a:t>
            </a:r>
            <a:endParaRPr sz="900"/>
          </a:p>
        </p:txBody>
      </p:sp>
      <p:sp>
        <p:nvSpPr>
          <p:cNvPr id="20" name="TextBox 19"/>
          <p:cNvSpPr txBox="1"/>
          <p:nvPr/>
        </p:nvSpPr>
        <p:spPr>
          <a:xfrm>
            <a:off x="3593465" y="1945889"/>
            <a:ext cx="1898015" cy="3356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The transported rates for different cabin positions vary significantly.</a:t>
            </a:r>
            <a:endParaRPr sz="800" b="1"/>
          </a:p>
        </p:txBody>
      </p:sp>
      <p:sp>
        <p:nvSpPr>
          <p:cNvPr id="21" name="Rounded Rectangle 20"/>
          <p:cNvSpPr/>
          <p:nvPr/>
        </p:nvSpPr>
        <p:spPr>
          <a:xfrm>
            <a:off x="457168" y="2892206"/>
            <a:ext cx="50749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168" y="2892206"/>
            <a:ext cx="54864" cy="438912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140" y="2962275"/>
            <a:ext cx="869315" cy="2908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Spending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1637661" y="2892173"/>
            <a:ext cx="1715770" cy="439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sz="900"/>
              <a:t>TotalSpend, NoSpend, </a:t>
            </a:r>
            <a:r>
              <a:rPr lang="en-US" altLang="zh-CN" sz="900"/>
              <a:t> LuxurySpend</a:t>
            </a:r>
            <a:r>
              <a:rPr sz="900"/>
              <a:t>, </a:t>
            </a:r>
            <a:r>
              <a:rPr lang="en-US" altLang="zh-CN" sz="900"/>
              <a:t>BasicSpend, LuxuryRatio</a:t>
            </a:r>
            <a:endParaRPr lang="en-US" altLang="zh-CN" sz="900"/>
          </a:p>
        </p:txBody>
      </p:sp>
      <p:sp>
        <p:nvSpPr>
          <p:cNvPr id="25" name="TextBox 24"/>
          <p:cNvSpPr txBox="1"/>
          <p:nvPr/>
        </p:nvSpPr>
        <p:spPr>
          <a:xfrm>
            <a:off x="3593575" y="2883612"/>
            <a:ext cx="1938572" cy="447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/>
              <a:t>The </a:t>
            </a: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spending</a:t>
            </a:r>
            <a:r>
              <a:rPr lang="en-US" altLang="zh-CN" sz="800" b="1"/>
              <a:t> data is skewed to the right. S</a:t>
            </a:r>
            <a:r>
              <a:rPr sz="800" b="1"/>
              <a:t>eparate zero spenders,</a:t>
            </a:r>
            <a:r>
              <a:rPr lang="en-US" altLang="zh-CN" sz="800" b="1"/>
              <a:t> preserve the</a:t>
            </a: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 r</a:t>
            </a:r>
            <a:r>
              <a:rPr lang="en-US" altLang="zh-CN" sz="800" b="1"/>
              <a:t>atio feature's structure</a:t>
            </a:r>
            <a:endParaRPr sz="800" b="1"/>
          </a:p>
        </p:txBody>
      </p:sp>
      <p:sp>
        <p:nvSpPr>
          <p:cNvPr id="26" name="Rounded Rectangle 25"/>
          <p:cNvSpPr/>
          <p:nvPr/>
        </p:nvSpPr>
        <p:spPr>
          <a:xfrm>
            <a:off x="457168" y="3422558"/>
            <a:ext cx="50749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168" y="3422558"/>
            <a:ext cx="54864" cy="438912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0" y="3486590"/>
            <a:ext cx="817941" cy="273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Age</a:t>
            </a:r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1637661" y="3459197"/>
            <a:ext cx="1715532" cy="3657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sz="900"/>
              <a:t>AgeBin, IsChild, </a:t>
            </a:r>
            <a:r>
              <a:rPr lang="en-US" altLang="zh-CN" sz="900"/>
              <a:t>IsSenior</a:t>
            </a:r>
            <a:endParaRPr sz="900"/>
          </a:p>
        </p:txBody>
      </p:sp>
      <p:sp>
        <p:nvSpPr>
          <p:cNvPr id="30" name="TextBox 29"/>
          <p:cNvSpPr txBox="1"/>
          <p:nvPr/>
        </p:nvSpPr>
        <p:spPr>
          <a:xfrm>
            <a:off x="3593560" y="3486566"/>
            <a:ext cx="1783080" cy="338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sz="800" b="1">
                <a:solidFill>
                  <a:srgbClr val="695F52"/>
                </a:solidFill>
                <a:latin typeface="Aptos" charset="0"/>
              </a:rPr>
              <a:t>People of different age groups show different </a:t>
            </a: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tranported </a:t>
            </a:r>
            <a:r>
              <a:rPr sz="800" b="1">
                <a:solidFill>
                  <a:srgbClr val="695F52"/>
                </a:solidFill>
                <a:latin typeface="Aptos" charset="0"/>
              </a:rPr>
              <a:t>rates.</a:t>
            </a:r>
            <a:endParaRPr sz="800" b="1"/>
          </a:p>
        </p:txBody>
      </p:sp>
      <p:sp>
        <p:nvSpPr>
          <p:cNvPr id="31" name="Rounded Rectangle 30"/>
          <p:cNvSpPr/>
          <p:nvPr/>
        </p:nvSpPr>
        <p:spPr>
          <a:xfrm>
            <a:off x="457168" y="3952910"/>
            <a:ext cx="50749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168" y="3952910"/>
            <a:ext cx="54864" cy="438912"/>
          </a:xfrm>
          <a:prstGeom prst="rect">
            <a:avLst/>
          </a:prstGeom>
          <a:solidFill>
            <a:srgbClr val="A5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250" y="4025900"/>
            <a:ext cx="1034415" cy="2933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0000"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400"/>
              <a:t>Interactions</a:t>
            </a:r>
            <a:endParaRPr sz="1400"/>
          </a:p>
        </p:txBody>
      </p:sp>
      <p:sp>
        <p:nvSpPr>
          <p:cNvPr id="34" name="TextBox 33"/>
          <p:cNvSpPr txBox="1"/>
          <p:nvPr/>
        </p:nvSpPr>
        <p:spPr>
          <a:xfrm>
            <a:off x="1637661" y="4007668"/>
            <a:ext cx="1715559" cy="320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sz="900"/>
              <a:t>CryoAndSpend, CryoAnd</a:t>
            </a:r>
            <a:r>
              <a:rPr lang="en-US" altLang="zh-CN" sz="900"/>
              <a:t>No</a:t>
            </a:r>
            <a:r>
              <a:rPr sz="900"/>
              <a:t>Spend</a:t>
            </a:r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3593560" y="4016918"/>
            <a:ext cx="1783080" cy="3109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CryoSleep</a:t>
            </a:r>
            <a:r>
              <a:rPr sz="800" b="1">
                <a:solidFill>
                  <a:srgbClr val="695F52"/>
                </a:solidFill>
                <a:latin typeface="Aptos" charset="0"/>
              </a:rPr>
              <a:t> has a strong r</a:t>
            </a: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elationship</a:t>
            </a:r>
            <a:r>
              <a:rPr sz="800" b="1">
                <a:solidFill>
                  <a:srgbClr val="695F52"/>
                </a:solidFill>
                <a:latin typeface="Aptos" charset="0"/>
              </a:rPr>
              <a:t> with </a:t>
            </a:r>
            <a:r>
              <a:rPr lang="en-US" altLang="zh-CN" sz="800" b="1">
                <a:solidFill>
                  <a:srgbClr val="695F52"/>
                </a:solidFill>
                <a:latin typeface="Aptos" charset="0"/>
              </a:rPr>
              <a:t>spending features</a:t>
            </a:r>
            <a:r>
              <a:rPr sz="800" b="1">
                <a:solidFill>
                  <a:srgbClr val="695F52"/>
                </a:solidFill>
                <a:latin typeface="Aptos" charset="0"/>
              </a:rPr>
              <a:t>.</a:t>
            </a:r>
            <a:endParaRPr sz="800" b="1"/>
          </a:p>
        </p:txBody>
      </p:sp>
      <p:sp>
        <p:nvSpPr>
          <p:cNvPr id="36" name="Rounded Rectangle 35"/>
          <p:cNvSpPr/>
          <p:nvPr/>
        </p:nvSpPr>
        <p:spPr>
          <a:xfrm>
            <a:off x="5760720" y="1344168"/>
            <a:ext cx="2880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1344168"/>
            <a:ext cx="54864" cy="1417320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07035" y="1424159"/>
            <a:ext cx="26517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200" b="1" i="0">
                <a:solidFill>
                  <a:srgbClr val="312B24"/>
                </a:solidFill>
                <a:latin typeface="Aptos"/>
              </a:defRPr>
            </a:pPr>
            <a:r>
              <a:rPr lang="en-US" altLang="zh-CN"/>
              <a:t>Preprocessing Details</a:t>
            </a:r>
            <a:endParaRPr lang="en-US" altLang="zh-CN"/>
          </a:p>
        </p:txBody>
      </p:sp>
      <p:sp>
        <p:nvSpPr>
          <p:cNvPr id="39" name="TextBox 38"/>
          <p:cNvSpPr txBox="1"/>
          <p:nvPr/>
        </p:nvSpPr>
        <p:spPr>
          <a:xfrm>
            <a:off x="5907024" y="1673367"/>
            <a:ext cx="1335086" cy="469292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Numerical: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• median imputation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endParaRPr lang="en-US" altLang="zh-CN" sz="1000"/>
          </a:p>
        </p:txBody>
      </p:sp>
      <p:sp>
        <p:nvSpPr>
          <p:cNvPr id="40" name="Rounded Rectangle 39"/>
          <p:cNvSpPr/>
          <p:nvPr/>
        </p:nvSpPr>
        <p:spPr>
          <a:xfrm>
            <a:off x="5760720" y="2962656"/>
            <a:ext cx="2880360" cy="14291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2962656"/>
            <a:ext cx="54864" cy="1429188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07024" y="3072384"/>
            <a:ext cx="2578605" cy="2587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00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200"/>
              <a:t>Dual-path Design</a:t>
            </a:r>
            <a:endParaRPr lang="en-US" altLang="zh-CN" sz="1200"/>
          </a:p>
        </p:txBody>
      </p:sp>
      <p:sp>
        <p:nvSpPr>
          <p:cNvPr id="43" name="TextBox 42"/>
          <p:cNvSpPr txBox="1"/>
          <p:nvPr/>
        </p:nvSpPr>
        <p:spPr>
          <a:xfrm>
            <a:off x="5907024" y="3355848"/>
            <a:ext cx="2606040" cy="971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0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CatBoost keeps raw categorical strings passed via cat_features, while </a:t>
            </a:r>
            <a:r>
              <a:rPr lang="en-US" altLang="zh-CN" sz="1000" b="1">
                <a:solidFill>
                  <a:srgbClr val="695F52"/>
                </a:solidFill>
                <a:latin typeface="Aptos" charset="0"/>
              </a:rPr>
              <a:t>others</a:t>
            </a:r>
            <a:r>
              <a:rPr lang="en-US" altLang="zh-CN" sz="1000" b="1"/>
              <a:t> take the One-Hot encoded path. That's because CatBoost natively supports categorical features.</a:t>
            </a:r>
            <a:endParaRPr lang="en-US" altLang="zh-CN" sz="1000" b="1"/>
          </a:p>
        </p:txBody>
      </p:sp>
      <p:sp>
        <p:nvSpPr>
          <p:cNvPr id="47" name="TextBox 46"/>
          <p:cNvSpPr txBox="1"/>
          <p:nvPr/>
        </p:nvSpPr>
        <p:spPr>
          <a:xfrm>
            <a:off x="4453145" y="2492307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9" name="Rounded Rectangle 30"/>
          <p:cNvSpPr/>
          <p:nvPr/>
        </p:nvSpPr>
        <p:spPr>
          <a:xfrm>
            <a:off x="466351" y="2377993"/>
            <a:ext cx="50749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31"/>
          <p:cNvSpPr/>
          <p:nvPr/>
        </p:nvSpPr>
        <p:spPr>
          <a:xfrm>
            <a:off x="466351" y="2377993"/>
            <a:ext cx="54864" cy="438912"/>
          </a:xfrm>
          <a:prstGeom prst="rect">
            <a:avLst/>
          </a:prstGeom>
          <a:solidFill>
            <a:srgbClr val="A5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32"/>
          <p:cNvSpPr txBox="1"/>
          <p:nvPr/>
        </p:nvSpPr>
        <p:spPr>
          <a:xfrm>
            <a:off x="612140" y="2441575"/>
            <a:ext cx="809625" cy="2749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400"/>
              <a:t>Name</a:t>
            </a:r>
            <a:endParaRPr sz="1400"/>
          </a:p>
        </p:txBody>
      </p:sp>
      <p:sp>
        <p:nvSpPr>
          <p:cNvPr id="52" name="TextBox 33"/>
          <p:cNvSpPr txBox="1"/>
          <p:nvPr/>
        </p:nvSpPr>
        <p:spPr>
          <a:xfrm>
            <a:off x="1637661" y="2428182"/>
            <a:ext cx="1715770" cy="3384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900"/>
              <a:t>Surname, NameLength</a:t>
            </a:r>
            <a:endParaRPr lang="en-US" altLang="zh-CN" sz="900"/>
          </a:p>
        </p:txBody>
      </p:sp>
      <p:sp>
        <p:nvSpPr>
          <p:cNvPr id="53" name="TextBox 34"/>
          <p:cNvSpPr txBox="1"/>
          <p:nvPr/>
        </p:nvSpPr>
        <p:spPr>
          <a:xfrm>
            <a:off x="3602743" y="2442001"/>
            <a:ext cx="1783080" cy="3195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sz="800" b="1">
                <a:solidFill>
                  <a:srgbClr val="695F52"/>
                </a:solidFill>
                <a:latin typeface="Aptos" charset="0"/>
              </a:rPr>
              <a:t>Passengers with the same surname may belong to the same family.</a:t>
            </a:r>
            <a:endParaRPr sz="800" b="1"/>
          </a:p>
        </p:txBody>
      </p:sp>
      <p:sp>
        <p:nvSpPr>
          <p:cNvPr id="44" name="TextBox 38"/>
          <p:cNvSpPr txBox="1"/>
          <p:nvPr/>
        </p:nvSpPr>
        <p:spPr>
          <a:xfrm>
            <a:off x="5907035" y="2142659"/>
            <a:ext cx="1439185" cy="573882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Leakage prevention: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• train/test combined only for count features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endParaRPr lang="en-US" altLang="zh-CN" sz="1100"/>
          </a:p>
        </p:txBody>
      </p:sp>
      <p:sp>
        <p:nvSpPr>
          <p:cNvPr id="45" name="TextBox 38"/>
          <p:cNvSpPr txBox="1"/>
          <p:nvPr/>
        </p:nvSpPr>
        <p:spPr>
          <a:xfrm>
            <a:off x="7242088" y="1673367"/>
            <a:ext cx="1398991" cy="87147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Categorical: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• constant imputation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• string conversion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/>
              <a:t>• One-Hot encoding</a:t>
            </a: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endParaRPr lang="en-US" altLang="zh-CN" sz="1000" b="1"/>
          </a:p>
          <a:p>
            <a:pPr>
              <a:lnSpc>
                <a:spcPct val="108000"/>
              </a:lnSpc>
              <a:spcAft>
                <a:spcPts val="400"/>
              </a:spcAft>
              <a:defRPr sz="760">
                <a:solidFill>
                  <a:srgbClr val="695F52"/>
                </a:solidFill>
                <a:latin typeface="Aptos"/>
              </a:defRPr>
            </a:pPr>
            <a:endParaRPr lang="en-US" altLang="zh-CN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182880"/>
            <a:ext cx="210312" cy="210312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3463" y="228581"/>
            <a:ext cx="155448" cy="1188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altLang="zh-CN" sz="7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8</a:t>
            </a:r>
            <a:endParaRPr kumimoji="0" sz="7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780" b="1" i="0">
                <a:solidFill>
                  <a:srgbClr val="695F52"/>
                </a:solidFill>
                <a:latin typeface="Aptos"/>
              </a:defRPr>
            </a:pPr>
            <a:r>
              <a:rPr lang="en-US" altLang="zh-CN" dirty="0"/>
              <a:t>Model  Optimization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BCA99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Nova@MLW  ·  </a:t>
            </a:r>
            <a:r>
              <a:rPr noProof="0">
                <a:ln>
                  <a:noFill/>
                </a:ln>
                <a:solidFill>
                  <a:srgbClr val="BCA997"/>
                </a:solidFill>
                <a:effectLst/>
                <a:uLnTx/>
                <a:uFillTx/>
                <a:latin typeface="Aptos" charset="0"/>
                <a:ea typeface="+mn-ea"/>
                <a:cs typeface="+mn-cs"/>
              </a:rPr>
              <a:t>Zirui SU 2430034058</a:t>
            </a:r>
            <a:endParaRPr>
              <a:latin typeface="Aptos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671" y="530324"/>
            <a:ext cx="7040880" cy="34767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lvl="0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2000" b="1" dirty="0"/>
              <a:t>Baseline Model Analysis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312B24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80" b="0" i="0">
                <a:solidFill>
                  <a:srgbClr val="695F52"/>
                </a:solidFill>
                <a:latin typeface="Aptos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95F5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altLang="zh-CN" sz="680" b="0" i="0" u="none" strike="noStrike" kern="1200" cap="none" spc="0" normalizeH="0" baseline="0" noProof="0">
                <a:ln>
                  <a:noFill/>
                </a:ln>
                <a:solidFill>
                  <a:srgbClr val="695F52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8</a:t>
            </a:r>
            <a:endParaRPr kumimoji="0" sz="680" b="0" i="0" u="none" strike="noStrike" kern="1200" cap="none" spc="0" normalizeH="0" baseline="0" noProof="0">
              <a:ln>
                <a:noFill/>
              </a:ln>
              <a:solidFill>
                <a:srgbClr val="695F5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6289" y="1344134"/>
            <a:ext cx="4040909" cy="242655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338697" y="1344168"/>
            <a:ext cx="47580" cy="2426554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861" y="1381810"/>
            <a:ext cx="3459013" cy="285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lvl="0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600" dirty="0"/>
              <a:t>Logistic regression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312B24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861" y="1667561"/>
            <a:ext cx="1817848" cy="552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lvl="0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sz="1000" b="1" dirty="0">
                <a:solidFill>
                  <a:srgbClr val="312B24"/>
                </a:solidFill>
                <a:latin typeface="Aptos"/>
              </a:rPr>
              <a:t>CV:</a:t>
            </a:r>
            <a:r>
              <a:rPr lang="en-US" altLang="zh-CN" sz="1000" dirty="0"/>
              <a:t> 0.</a:t>
            </a:r>
            <a:r>
              <a:rPr lang="en-US" altLang="zh-CN" sz="1000" dirty="0">
                <a:solidFill>
                  <a:srgbClr val="312B24"/>
                </a:solidFill>
                <a:latin typeface="Aptos" charset="0"/>
              </a:rPr>
              <a:t>8033</a:t>
            </a:r>
            <a:endParaRPr lang="en-US" altLang="zh-CN" sz="1000" dirty="0"/>
          </a:p>
          <a:p>
            <a:pPr lvl="0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000" dirty="0"/>
              <a:t>Training Time: 0.9893s</a:t>
            </a:r>
            <a:endParaRPr lang="en-US" altLang="zh-CN" sz="1000" dirty="0"/>
          </a:p>
          <a:p>
            <a:pPr lvl="0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000" dirty="0"/>
              <a:t>Inference Time: 0.06ms   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312B24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861" y="2342682"/>
            <a:ext cx="1817849" cy="7220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r>
              <a:rPr lang="en-US" altLang="zh-CN" sz="1000" b="1" dirty="0">
                <a:latin typeface="Aptos" charset="0"/>
              </a:rPr>
              <a:t>Advantage:</a:t>
            </a:r>
            <a:endParaRPr lang="en-US" altLang="zh-CN" sz="1000" b="1" dirty="0">
              <a:latin typeface="Aptos" charset="0"/>
            </a:endParaRPr>
          </a:p>
          <a:p>
            <a:r>
              <a:rPr lang="en-US" altLang="zh-CN" sz="1000" b="1" dirty="0">
                <a:latin typeface="Aptos" charset="0"/>
              </a:rPr>
              <a:t>Logistic regression</a:t>
            </a:r>
            <a:r>
              <a:rPr lang="en-US" altLang="zh-CN" sz="1000" b="1" dirty="0">
                <a:solidFill>
                  <a:srgbClr val="312B24"/>
                </a:solidFill>
                <a:latin typeface="Aptos" charset="0"/>
              </a:rPr>
              <a:t> </a:t>
            </a:r>
            <a:r>
              <a:rPr lang="en-US" altLang="zh-CN" sz="1000" b="1" dirty="0">
                <a:latin typeface="Aptos" charset="0"/>
              </a:rPr>
              <a:t>trains fast and has low computational cost</a:t>
            </a:r>
            <a:endParaRPr lang="en-US" altLang="zh-CN" sz="1000" b="1" dirty="0">
              <a:latin typeface="Aptos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61347" y="1344168"/>
            <a:ext cx="3724286" cy="242655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61732" y="1344168"/>
            <a:ext cx="45719" cy="2426554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41304" y="1426747"/>
            <a:ext cx="3364372" cy="276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12B2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SVM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312B24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38697" y="4069080"/>
            <a:ext cx="8146936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6324" y="4322485"/>
            <a:ext cx="7862880" cy="4531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/>
          </a:bodyPr>
          <a:lstStyle/>
          <a:p>
            <a:pPr lvl="0">
              <a:defRPr sz="750" b="1" i="0">
                <a:solidFill>
                  <a:srgbClr val="695F52"/>
                </a:solidFill>
                <a:latin typeface="Aptos"/>
              </a:defRPr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695F5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simple linear and kernel methods are not enough for our requirements, so we turned to tree models instead.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695F5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lvl="0">
              <a:defRPr sz="750" b="1" i="0">
                <a:solidFill>
                  <a:srgbClr val="695F52"/>
                </a:solidFill>
                <a:latin typeface="Aptos"/>
              </a:defRPr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695F5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77500" lnSpcReduction="200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50" b="0" i="0">
                <a:solidFill>
                  <a:srgbClr val="BCA997"/>
                </a:solidFill>
                <a:latin typeface="Aptos"/>
              </a:defRPr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BCA99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</a:t>
            </a:r>
            <a:endParaRPr kumimoji="0" sz="650" b="0" i="0" u="none" strike="noStrike" kern="1200" cap="none" spc="0" normalizeH="0" baseline="0" noProof="0">
              <a:ln>
                <a:noFill/>
              </a:ln>
              <a:solidFill>
                <a:srgbClr val="BCA99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347472" y="923682"/>
            <a:ext cx="8138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940" b="0" i="0">
                <a:solidFill>
                  <a:srgbClr val="655544"/>
                </a:solidFill>
                <a:latin typeface="Aptos"/>
              </a:defRPr>
            </a:pPr>
            <a:r>
              <a:rPr lang="en-US" dirty="0"/>
              <a:t>Logistic regression and SVM</a:t>
            </a:r>
            <a:endParaRPr dirty="0"/>
          </a:p>
        </p:txBody>
      </p:sp>
      <p:sp>
        <p:nvSpPr>
          <p:cNvPr id="48" name="TextBox 13"/>
          <p:cNvSpPr txBox="1"/>
          <p:nvPr/>
        </p:nvSpPr>
        <p:spPr>
          <a:xfrm>
            <a:off x="4941304" y="1667562"/>
            <a:ext cx="1533600" cy="6692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lvl="0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sz="1000" b="1" dirty="0">
                <a:solidFill>
                  <a:srgbClr val="312B24"/>
                </a:solidFill>
                <a:latin typeface="Aptos"/>
              </a:rPr>
              <a:t>CV:</a:t>
            </a:r>
            <a:r>
              <a:rPr lang="en-US" altLang="zh-CN" sz="1000" dirty="0"/>
              <a:t> 0.8062</a:t>
            </a:r>
            <a:endParaRPr lang="en-US" altLang="zh-CN" sz="1000" dirty="0"/>
          </a:p>
          <a:p>
            <a:pPr lvl="0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000" dirty="0"/>
              <a:t>Training Time: 22.1788s</a:t>
            </a:r>
            <a:endParaRPr lang="en-US" altLang="zh-CN" sz="1000" dirty="0"/>
          </a:p>
          <a:p>
            <a:pPr lvl="0">
              <a:defRPr sz="72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000" dirty="0"/>
              <a:t>Inference Time: 19.2656ms   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312B24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Box 14"/>
          <p:cNvSpPr txBox="1"/>
          <p:nvPr/>
        </p:nvSpPr>
        <p:spPr>
          <a:xfrm>
            <a:off x="4941336" y="2342656"/>
            <a:ext cx="1533587" cy="78590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r>
              <a:rPr lang="en-US" altLang="zh-CN" sz="900" b="1" dirty="0">
                <a:latin typeface="Aptos" charset="0"/>
              </a:rPr>
              <a:t>Advantage:</a:t>
            </a:r>
            <a:endParaRPr lang="en-US" altLang="zh-CN" sz="900" b="1" dirty="0">
              <a:latin typeface="Aptos" charset="0"/>
            </a:endParaRPr>
          </a:p>
          <a:p>
            <a:r>
              <a:rPr lang="en-US" altLang="zh-CN" sz="900" b="1" dirty="0">
                <a:latin typeface="Aptos" charset="0"/>
              </a:rPr>
              <a:t>SVM can capture non-linearity and its performance is acceptable</a:t>
            </a:r>
            <a:endParaRPr lang="en-US" altLang="zh-CN" sz="900" b="1" dirty="0">
              <a:latin typeface="Aptos" charset="0"/>
            </a:endParaRPr>
          </a:p>
          <a:p>
            <a:endParaRPr lang="en-US" altLang="zh-CN" sz="900" b="1" dirty="0">
              <a:latin typeface="Aptos" charset="0"/>
            </a:endParaRPr>
          </a:p>
        </p:txBody>
      </p:sp>
      <p:pic>
        <p:nvPicPr>
          <p:cNvPr id="50" name="Picture 10" descr="slide08_img1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98996" y="1426747"/>
            <a:ext cx="1945923" cy="174481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438912" y="3064686"/>
            <a:ext cx="3446757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Aptos" charset="0"/>
              </a:rPr>
              <a:t>Disadvantage:</a:t>
            </a:r>
            <a:endParaRPr lang="en-US" altLang="zh-CN" sz="1100" b="1" dirty="0">
              <a:latin typeface="Aptos" charset="0"/>
            </a:endParaRPr>
          </a:p>
          <a:p>
            <a:r>
              <a:rPr lang="en-US" altLang="zh-CN" sz="1100" b="1" dirty="0">
                <a:latin typeface="Aptos" charset="0"/>
              </a:rPr>
              <a:t>Can only learn linear relationships</a:t>
            </a:r>
            <a:endParaRPr lang="en-US" altLang="zh-CN" sz="1100" b="1" dirty="0">
              <a:latin typeface="Aptos" charset="0"/>
            </a:endParaRPr>
          </a:p>
          <a:p>
            <a:r>
              <a:rPr lang="en-US" altLang="zh-CN" sz="1100" b="1" dirty="0">
                <a:latin typeface="Aptos" charset="0"/>
              </a:rPr>
              <a:t>Sensitive to outliers in spending</a:t>
            </a:r>
            <a:endParaRPr lang="en-US" altLang="zh-CN" sz="1100" b="1" dirty="0">
              <a:latin typeface="Aptos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851325" y="3064686"/>
            <a:ext cx="35443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Aptos" charset="0"/>
              </a:rPr>
              <a:t>Disadvantage:</a:t>
            </a:r>
            <a:endParaRPr lang="en-US" altLang="zh-CN" sz="1100" b="1" dirty="0">
              <a:latin typeface="Aptos" charset="0"/>
            </a:endParaRPr>
          </a:p>
          <a:p>
            <a:r>
              <a:rPr lang="en-US" altLang="zh-CN" sz="1100" b="1" dirty="0">
                <a:latin typeface="Aptos" charset="0"/>
              </a:rPr>
              <a:t>The </a:t>
            </a:r>
            <a:r>
              <a:rPr lang="en-US" altLang="zh-CN" sz="1050" b="1" dirty="0">
                <a:latin typeface="Aptos" charset="0"/>
              </a:rPr>
              <a:t>running</a:t>
            </a:r>
            <a:r>
              <a:rPr lang="en-US" altLang="zh-CN" sz="1100" b="1" dirty="0">
                <a:latin typeface="Aptos" charset="0"/>
              </a:rPr>
              <a:t> speed is extremely slow </a:t>
            </a:r>
            <a:endParaRPr lang="en-US" altLang="zh-CN" sz="1100" b="1" dirty="0">
              <a:latin typeface="Aptos" charset="0"/>
            </a:endParaRPr>
          </a:p>
          <a:p>
            <a:r>
              <a:rPr lang="en-US" altLang="zh-CN" sz="1100" b="1" dirty="0">
                <a:latin typeface="Aptos" charset="0"/>
              </a:rPr>
              <a:t>The computational cost is simply too high. </a:t>
            </a:r>
            <a:endParaRPr lang="en-US" altLang="zh-CN" sz="1100" b="1" dirty="0">
              <a:latin typeface="Aptos" charset="0"/>
            </a:endParaRPr>
          </a:p>
        </p:txBody>
      </p:sp>
      <p:pic>
        <p:nvPicPr>
          <p:cNvPr id="55" name="Picture 14" descr="slide08_img2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87922" y="1445930"/>
            <a:ext cx="1941293" cy="1725642"/>
          </a:xfrm>
          <a:prstGeom prst="rect">
            <a:avLst/>
          </a:prstGeom>
        </p:spPr>
      </p:pic>
      <p:sp>
        <p:nvSpPr>
          <p:cNvPr id="56" name="TextBox 12"/>
          <p:cNvSpPr txBox="1"/>
          <p:nvPr/>
        </p:nvSpPr>
        <p:spPr>
          <a:xfrm>
            <a:off x="438912" y="4101103"/>
            <a:ext cx="3459013" cy="2857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lvl="0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400" b="1" dirty="0"/>
              <a:t>Conclusion</a:t>
            </a:r>
            <a:r>
              <a:rPr lang="en-US" sz="1400" b="1" dirty="0">
                <a:solidFill>
                  <a:srgbClr val="312B24"/>
                </a:solidFill>
                <a:latin typeface="Aptos"/>
              </a:rPr>
              <a:t>: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312B24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182880"/>
            <a:ext cx="210312" cy="210312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9742" y="205707"/>
            <a:ext cx="182889" cy="1646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sz="700" dirty="0"/>
              <a:t>09</a:t>
            </a:r>
            <a:endParaRPr sz="700"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80" b="1" i="0">
                <a:solidFill>
                  <a:srgbClr val="695F52"/>
                </a:solidFill>
                <a:latin typeface="Aptos"/>
              </a:defRPr>
            </a:pPr>
            <a:r>
              <a:rPr lang="en-US" dirty="0"/>
              <a:t>Model</a:t>
            </a:r>
            <a:r>
              <a:rPr dirty="0"/>
              <a:t>  Optimization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Nova@MLW  ·  </a:t>
            </a:r>
            <a:r>
              <a:rPr>
                <a:solidFill>
                  <a:srgbClr val="BCA997"/>
                </a:solidFill>
                <a:latin typeface="Aptos" charset="0"/>
              </a:rPr>
              <a:t>Zirui SU 2430034058</a:t>
            </a:r>
            <a:endParaRPr>
              <a:solidFill>
                <a:srgbClr val="BCA997"/>
              </a:solidFill>
              <a:latin typeface="Apto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472" y="585216"/>
            <a:ext cx="70408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rPr lang="en-US" dirty="0"/>
              <a:t>Why </a:t>
            </a:r>
            <a:r>
              <a:rPr lang="en-US" altLang="zh-CN" sz="2000" dirty="0"/>
              <a:t>Ensemble </a:t>
            </a:r>
            <a:r>
              <a:rPr dirty="0"/>
              <a:t>Tree Models Fit This Dataset Better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7863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80" b="0" i="0">
                <a:solidFill>
                  <a:srgbClr val="695F52"/>
                </a:solidFill>
                <a:latin typeface="Aptos"/>
              </a:defRPr>
            </a:pPr>
            <a:r>
              <a:rPr dirty="0"/>
              <a:t>The dataset is small-to-medium, mixed-type, and interaction-heavy—exactly where tree models are strong.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94" y="1417319"/>
            <a:ext cx="2202714" cy="8268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Oval 11"/>
          <p:cNvSpPr/>
          <p:nvPr/>
        </p:nvSpPr>
        <p:spPr>
          <a:xfrm>
            <a:off x="485657" y="1743296"/>
            <a:ext cx="206675" cy="203372"/>
          </a:xfrm>
          <a:prstGeom prst="ellipse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908" y="1763256"/>
            <a:ext cx="154140" cy="16340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sz="700" dirty="0"/>
              <a:t>1</a:t>
            </a:r>
            <a:endParaRPr sz="700" dirty="0"/>
          </a:p>
        </p:txBody>
      </p:sp>
      <p:sp>
        <p:nvSpPr>
          <p:cNvPr id="14" name="TextBox 13"/>
          <p:cNvSpPr txBox="1"/>
          <p:nvPr/>
        </p:nvSpPr>
        <p:spPr>
          <a:xfrm>
            <a:off x="810508" y="1471787"/>
            <a:ext cx="1548668" cy="24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050" b="1" i="0">
                <a:solidFill>
                  <a:srgbClr val="312B24"/>
                </a:solidFill>
                <a:latin typeface="Aptos"/>
              </a:defRPr>
            </a:pPr>
            <a:r>
              <a:rPr sz="1100" dirty="0"/>
              <a:t>No scaling required</a:t>
            </a:r>
            <a:endParaRPr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810479" y="1707887"/>
            <a:ext cx="1628931" cy="4775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defRPr sz="75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000" b="1" dirty="0"/>
              <a:t>unlike Logistic Regression or SVM, </a:t>
            </a:r>
            <a:r>
              <a:rPr lang="en-US" altLang="zh-CN" sz="1000" b="1" dirty="0"/>
              <a:t>trees don't need normalization</a:t>
            </a:r>
            <a:endParaRPr sz="10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793713" y="1431404"/>
            <a:ext cx="2202714" cy="8268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0959" y="1743296"/>
            <a:ext cx="206675" cy="205297"/>
          </a:xfrm>
          <a:prstGeom prst="ellipse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7745" y="1763256"/>
            <a:ext cx="153096" cy="1434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0000"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310402" y="1471820"/>
            <a:ext cx="1686023" cy="326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/>
          </a:bodyPr>
          <a:lstStyle/>
          <a:p>
            <a:pPr>
              <a:defRPr sz="1050" b="1" i="0">
                <a:solidFill>
                  <a:srgbClr val="312B24"/>
                </a:solidFill>
                <a:latin typeface="Aptos"/>
              </a:defRPr>
            </a:pPr>
            <a:r>
              <a:rPr lang="en-US" altLang="zh-CN" sz="1000" b="1" dirty="0"/>
              <a:t>Non-linear patterns learned automatically </a:t>
            </a:r>
            <a:endParaRPr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3310427" y="1779516"/>
            <a:ext cx="1604441" cy="4059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defRPr sz="75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050" b="1" dirty="0"/>
              <a:t>no manual binning rules needed"</a:t>
            </a:r>
            <a:endParaRPr sz="1050" b="1" dirty="0"/>
          </a:p>
        </p:txBody>
      </p:sp>
      <p:sp>
        <p:nvSpPr>
          <p:cNvPr id="21" name="Rounded Rectangle 20"/>
          <p:cNvSpPr/>
          <p:nvPr/>
        </p:nvSpPr>
        <p:spPr>
          <a:xfrm>
            <a:off x="355794" y="2560319"/>
            <a:ext cx="2202714" cy="8268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657" y="2921507"/>
            <a:ext cx="206675" cy="205297"/>
          </a:xfrm>
          <a:prstGeom prst="ellipse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929" y="2945239"/>
            <a:ext cx="154140" cy="1625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sz="700" dirty="0"/>
              <a:t>3</a:t>
            </a:r>
            <a:endParaRPr sz="700" dirty="0"/>
          </a:p>
        </p:txBody>
      </p:sp>
      <p:sp>
        <p:nvSpPr>
          <p:cNvPr id="24" name="TextBox 23"/>
          <p:cNvSpPr txBox="1"/>
          <p:nvPr/>
        </p:nvSpPr>
        <p:spPr>
          <a:xfrm>
            <a:off x="810479" y="2631974"/>
            <a:ext cx="1604441" cy="19880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050" b="1" i="0">
                <a:solidFill>
                  <a:srgbClr val="312B24"/>
                </a:solidFill>
                <a:latin typeface="Aptos"/>
              </a:defRPr>
            </a:pPr>
            <a:r>
              <a:rPr sz="1100" dirty="0"/>
              <a:t>Feature interactions</a:t>
            </a:r>
            <a:endParaRPr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813190" y="2862458"/>
            <a:ext cx="1626249" cy="48026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rPr sz="1000" b="1" dirty="0" err="1"/>
              <a:t>CryoSleep</a:t>
            </a:r>
            <a:r>
              <a:rPr sz="1000" b="1" dirty="0"/>
              <a:t> × spending × route patterns can be learned automatically</a:t>
            </a:r>
            <a:endParaRPr sz="1000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2793713" y="2574404"/>
            <a:ext cx="2202714" cy="8268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40960" y="2921507"/>
            <a:ext cx="206674" cy="205297"/>
          </a:xfrm>
          <a:prstGeom prst="ellipse">
            <a:avLst/>
          </a:prstGeom>
          <a:solidFill>
            <a:srgbClr val="A5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2967730" y="2945265"/>
            <a:ext cx="153096" cy="1577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rPr sz="700" dirty="0"/>
              <a:t>4</a:t>
            </a:r>
            <a:endParaRPr sz="700" dirty="0"/>
          </a:p>
        </p:txBody>
      </p:sp>
      <p:sp>
        <p:nvSpPr>
          <p:cNvPr id="29" name="TextBox 28"/>
          <p:cNvSpPr txBox="1"/>
          <p:nvPr/>
        </p:nvSpPr>
        <p:spPr>
          <a:xfrm>
            <a:off x="3310427" y="2631974"/>
            <a:ext cx="1604441" cy="1988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050" b="1" i="0">
                <a:solidFill>
                  <a:srgbClr val="312B24"/>
                </a:solidFill>
                <a:latin typeface="Aptos"/>
              </a:defRPr>
            </a:pPr>
            <a:r>
              <a:rPr sz="1100" dirty="0"/>
              <a:t>Robustness</a:t>
            </a:r>
            <a:endParaRPr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3310402" y="2858247"/>
            <a:ext cx="1604711" cy="48026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>
              <a:defRPr sz="750" b="0" i="0">
                <a:solidFill>
                  <a:srgbClr val="695F52"/>
                </a:solidFill>
                <a:latin typeface="Aptos"/>
              </a:defRPr>
            </a:pPr>
            <a:r>
              <a:rPr sz="1000" b="1" dirty="0"/>
              <a:t>less sensitive to outliers and skewed spending distributions</a:t>
            </a:r>
            <a:endParaRPr sz="1000" b="1" dirty="0"/>
          </a:p>
        </p:txBody>
      </p:sp>
      <p:sp>
        <p:nvSpPr>
          <p:cNvPr id="31" name="Rounded Rectangle 30"/>
          <p:cNvSpPr/>
          <p:nvPr/>
        </p:nvSpPr>
        <p:spPr>
          <a:xfrm>
            <a:off x="355793" y="3749039"/>
            <a:ext cx="464063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5793" y="3749039"/>
            <a:ext cx="54864" cy="713232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8229" y="3810422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980" b="1" i="0">
                <a:solidFill>
                  <a:srgbClr val="312B24"/>
                </a:solidFill>
                <a:latin typeface="Aptos"/>
              </a:defRPr>
            </a:pPr>
            <a:r>
              <a:rPr sz="1100" dirty="0"/>
              <a:t>EDA </a:t>
            </a:r>
            <a:r>
              <a:rPr sz="1100" dirty="0">
                <a:solidFill>
                  <a:srgbClr val="312B24"/>
                </a:solidFill>
                <a:latin typeface="Aptos" charset="0"/>
              </a:rPr>
              <a:t>finding</a:t>
            </a:r>
            <a:endParaRPr>
              <a:latin typeface="Aptos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0225" y="3989705"/>
            <a:ext cx="4294505" cy="4527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6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300" b="1" dirty="0">
                <a:solidFill>
                  <a:srgbClr val="695F52"/>
                </a:solidFill>
                <a:latin typeface="Aptos" charset="0"/>
              </a:rPr>
              <a:t>transported passengers generally spend less, but the pattern is non-linear and tied to CryoSleep.</a:t>
            </a:r>
            <a:endParaRPr lang="en-US" altLang="zh-CN" sz="1300" b="1" dirty="0">
              <a:solidFill>
                <a:srgbClr val="695F52"/>
              </a:solidFill>
              <a:latin typeface="Aptos" charset="0"/>
            </a:endParaRPr>
          </a:p>
          <a:p>
            <a:pPr algn="l">
              <a:defRPr sz="76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300" b="1" dirty="0">
                <a:solidFill>
                  <a:srgbClr val="695F52"/>
                </a:solidFill>
                <a:latin typeface="Aptos" charset="0"/>
              </a:rPr>
              <a:t> </a:t>
            </a:r>
            <a:endParaRPr lang="en-US" altLang="zh-CN" sz="1300" b="1" dirty="0">
              <a:solidFill>
                <a:srgbClr val="695F52"/>
              </a:solidFill>
              <a:latin typeface="Aptos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147942" y="1417319"/>
            <a:ext cx="3337709" cy="304495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77500" lnSpcReduction="20000"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36" name="图片 35" descr="post_object_image_2896107891"/>
          <p:cNvPicPr>
            <a:picLocks noChangeAspect="1"/>
          </p:cNvPicPr>
          <p:nvPr/>
        </p:nvPicPr>
        <p:blipFill>
          <a:blip r:embed="rId1"/>
          <a:srcRect l="68863"/>
          <a:stretch>
            <a:fillRect/>
          </a:stretch>
        </p:blipFill>
        <p:spPr>
          <a:xfrm>
            <a:off x="5155939" y="1417297"/>
            <a:ext cx="3329724" cy="30449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82880"/>
            <a:ext cx="210312" cy="210312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3" y="228581"/>
            <a:ext cx="155448" cy="1188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5448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80" b="1" i="0">
                <a:solidFill>
                  <a:srgbClr val="695F52"/>
                </a:solidFill>
                <a:latin typeface="Aptos"/>
              </a:defRPr>
            </a:pPr>
            <a:r>
              <a:rPr>
                <a:solidFill>
                  <a:srgbClr val="695F52"/>
                </a:solidFill>
                <a:latin typeface="Aptos" charset="0"/>
              </a:rPr>
              <a:t>M</a:t>
            </a:r>
            <a:r>
              <a:rPr lang="en-US" altLang="zh-CN">
                <a:solidFill>
                  <a:srgbClr val="695F52"/>
                </a:solidFill>
                <a:latin typeface="Aptos" charset="0"/>
              </a:rPr>
              <a:t>odel</a:t>
            </a:r>
            <a:r>
              <a:t>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Nova@MLW  ·  </a:t>
            </a:r>
            <a:r>
              <a:rPr>
                <a:solidFill>
                  <a:srgbClr val="BCA997"/>
                </a:solidFill>
                <a:latin typeface="Aptos" charset="0"/>
              </a:rPr>
              <a:t>Zirui SU 2430034058</a:t>
            </a:r>
            <a:endParaRPr>
              <a:solidFill>
                <a:srgbClr val="BCA997"/>
              </a:solidFill>
              <a:latin typeface="Apto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0835" y="585470"/>
            <a:ext cx="7057390" cy="3473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0000"/>
          </a:bodyPr>
          <a:lstStyle/>
          <a:p>
            <a:pPr algn="l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t>Tree Model Search: More Options, More Complementary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87" y="905279"/>
            <a:ext cx="7863840" cy="1902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80" b="0" i="0">
                <a:solidFill>
                  <a:srgbClr val="695F52"/>
                </a:solidFill>
                <a:latin typeface="Aptos"/>
              </a:defRPr>
            </a:pPr>
            <a:r>
              <a:rPr lang="en-US" altLang="zh-CN"/>
              <a:t>We did not rely on one single model, but tested and kept three powerful boosting models.</a:t>
            </a:r>
            <a:endParaRPr lang="en-US" altLang="zh-CN"/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ounded Rectangle 15"/>
          <p:cNvSpPr/>
          <p:nvPr>
            <p:custDataLst>
              <p:tags r:id="rId1"/>
            </p:custDataLst>
          </p:nvPr>
        </p:nvSpPr>
        <p:spPr>
          <a:xfrm>
            <a:off x="365743" y="1303805"/>
            <a:ext cx="2633987" cy="26695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2"/>
            </p:custDataLst>
          </p:nvPr>
        </p:nvSpPr>
        <p:spPr>
          <a:xfrm>
            <a:off x="365743" y="1303805"/>
            <a:ext cx="73162" cy="2669596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3"/>
            </p:custDataLst>
          </p:nvPr>
        </p:nvSpPr>
        <p:spPr>
          <a:xfrm>
            <a:off x="591616" y="1375787"/>
            <a:ext cx="728848" cy="32186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200"/>
              <a:t>XGBoost</a:t>
            </a:r>
            <a:endParaRPr sz="1200"/>
          </a:p>
        </p:txBody>
      </p:sp>
      <p:sp>
        <p:nvSpPr>
          <p:cNvPr id="19" name="TextBox 18"/>
          <p:cNvSpPr txBox="1"/>
          <p:nvPr>
            <p:custDataLst>
              <p:tags r:id="rId4"/>
            </p:custDataLst>
          </p:nvPr>
        </p:nvSpPr>
        <p:spPr>
          <a:xfrm>
            <a:off x="1320464" y="1411049"/>
            <a:ext cx="1460889" cy="211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40" b="1" i="0">
                <a:solidFill>
                  <a:srgbClr val="695F52"/>
                </a:solidFill>
                <a:latin typeface="Aptos"/>
              </a:defRPr>
            </a:pPr>
            <a:r>
              <a:rPr sz="900"/>
              <a:t>regularized boosting view</a:t>
            </a:r>
            <a:endParaRPr sz="900"/>
          </a:p>
        </p:txBody>
      </p:sp>
      <p:sp>
        <p:nvSpPr>
          <p:cNvPr id="20" name="TextBox 19"/>
          <p:cNvSpPr txBox="1"/>
          <p:nvPr>
            <p:custDataLst>
              <p:tags r:id="rId5"/>
            </p:custDataLst>
          </p:nvPr>
        </p:nvSpPr>
        <p:spPr>
          <a:xfrm>
            <a:off x="557669" y="1621513"/>
            <a:ext cx="2322741" cy="32417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00" b="0" i="0">
                <a:solidFill>
                  <a:srgbClr val="695F52"/>
                </a:solidFill>
                <a:latin typeface="Aptos"/>
              </a:defRPr>
            </a:pPr>
            <a:r>
              <a:rPr sz="900" b="1"/>
              <a:t>L1/L2 + second-order gradients; fixes boundary cases</a:t>
            </a:r>
            <a:endParaRPr sz="900" b="1"/>
          </a:p>
        </p:txBody>
      </p:sp>
      <p:sp>
        <p:nvSpPr>
          <p:cNvPr id="21" name="Rounded Rectangle 20"/>
          <p:cNvSpPr/>
          <p:nvPr>
            <p:custDataLst>
              <p:tags r:id="rId6"/>
            </p:custDataLst>
          </p:nvPr>
        </p:nvSpPr>
        <p:spPr>
          <a:xfrm>
            <a:off x="3095382" y="1308550"/>
            <a:ext cx="2642316" cy="266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7"/>
            </p:custDataLst>
          </p:nvPr>
        </p:nvSpPr>
        <p:spPr>
          <a:xfrm>
            <a:off x="3095382" y="1308550"/>
            <a:ext cx="62667" cy="2669616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8"/>
            </p:custDataLst>
          </p:nvPr>
        </p:nvSpPr>
        <p:spPr>
          <a:xfrm>
            <a:off x="3296877" y="1380552"/>
            <a:ext cx="826197" cy="2457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200"/>
              <a:t>LightGBM</a:t>
            </a:r>
            <a:endParaRPr sz="1200"/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4060450" y="1411030"/>
            <a:ext cx="1614631" cy="2120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40" b="1" i="0">
                <a:solidFill>
                  <a:srgbClr val="695F52"/>
                </a:solidFill>
                <a:latin typeface="Aptos"/>
              </a:defRPr>
            </a:pPr>
            <a:r>
              <a:rPr sz="900"/>
              <a:t>efficient boosted tree model</a:t>
            </a:r>
            <a:endParaRPr sz="900"/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3296891" y="1626277"/>
            <a:ext cx="2440807" cy="3241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>
              <a:defRPr sz="700" b="0" i="0">
                <a:solidFill>
                  <a:srgbClr val="695F52"/>
                </a:solidFill>
                <a:latin typeface="Aptos"/>
              </a:defRPr>
            </a:pPr>
            <a:r>
              <a:rPr sz="900" b="1"/>
              <a:t>leaf-wise growth and histogram splits </a:t>
            </a:r>
            <a:r>
              <a:rPr lang="zh-CN" altLang="en-US" sz="900" b="1"/>
              <a:t>+ </a:t>
            </a:r>
            <a:r>
              <a:rPr lang="en-US" altLang="zh-CN" sz="900" b="1"/>
              <a:t>fastest training spend</a:t>
            </a:r>
            <a:endParaRPr sz="900" b="1"/>
          </a:p>
        </p:txBody>
      </p:sp>
      <p:sp>
        <p:nvSpPr>
          <p:cNvPr id="26" name="Rounded Rectangle 25"/>
          <p:cNvSpPr/>
          <p:nvPr>
            <p:custDataLst>
              <p:tags r:id="rId11"/>
            </p:custDataLst>
          </p:nvPr>
        </p:nvSpPr>
        <p:spPr>
          <a:xfrm>
            <a:off x="5880421" y="1303805"/>
            <a:ext cx="2605242" cy="266963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12"/>
            </p:custDataLst>
          </p:nvPr>
        </p:nvSpPr>
        <p:spPr>
          <a:xfrm>
            <a:off x="5880437" y="1303805"/>
            <a:ext cx="70941" cy="2669630"/>
          </a:xfrm>
          <a:prstGeom prst="rect">
            <a:avLst/>
          </a:prstGeom>
          <a:solidFill>
            <a:srgbClr val="A5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13"/>
            </p:custDataLst>
          </p:nvPr>
        </p:nvSpPr>
        <p:spPr>
          <a:xfrm>
            <a:off x="6116663" y="1375787"/>
            <a:ext cx="756395" cy="2824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50" b="1" i="0">
                <a:solidFill>
                  <a:srgbClr val="312B24"/>
                </a:solidFill>
                <a:latin typeface="Aptos"/>
              </a:defRPr>
            </a:pPr>
            <a:r>
              <a:rPr sz="1200"/>
              <a:t>CatBoost</a:t>
            </a:r>
            <a:endParaRPr sz="1200"/>
          </a:p>
        </p:txBody>
      </p:sp>
      <p:sp>
        <p:nvSpPr>
          <p:cNvPr id="29" name="TextBox 28"/>
          <p:cNvSpPr txBox="1"/>
          <p:nvPr>
            <p:custDataLst>
              <p:tags r:id="rId14"/>
            </p:custDataLst>
          </p:nvPr>
        </p:nvSpPr>
        <p:spPr>
          <a:xfrm>
            <a:off x="6862206" y="1411049"/>
            <a:ext cx="1415700" cy="1780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20000"/>
          </a:bodyPr>
          <a:lstStyle/>
          <a:p>
            <a:pPr algn="l">
              <a:defRPr sz="740" b="1" i="0">
                <a:solidFill>
                  <a:srgbClr val="695F52"/>
                </a:solidFill>
                <a:latin typeface="Aptos"/>
              </a:defRPr>
            </a:pPr>
            <a:r>
              <a:rPr sz="900"/>
              <a:t>strong categorical model</a:t>
            </a:r>
            <a:endParaRPr sz="900"/>
          </a:p>
        </p:txBody>
      </p:sp>
      <p:sp>
        <p:nvSpPr>
          <p:cNvPr id="30" name="TextBox 29"/>
          <p:cNvSpPr txBox="1"/>
          <p:nvPr>
            <p:custDataLst>
              <p:tags r:id="rId15"/>
            </p:custDataLst>
          </p:nvPr>
        </p:nvSpPr>
        <p:spPr>
          <a:xfrm>
            <a:off x="6097148" y="1626302"/>
            <a:ext cx="2342910" cy="3241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>
              <a:defRPr sz="700" b="0" i="0">
                <a:solidFill>
                  <a:srgbClr val="695F52"/>
                </a:solidFill>
                <a:latin typeface="Aptos"/>
              </a:defRPr>
            </a:pPr>
            <a:r>
              <a:rPr sz="900" b="1"/>
              <a:t>native categorical handling + ordered boosting</a:t>
            </a:r>
            <a:endParaRPr sz="900" b="1"/>
          </a:p>
        </p:txBody>
      </p:sp>
      <p:sp>
        <p:nvSpPr>
          <p:cNvPr id="34" name="Rounded Rectangle 33"/>
          <p:cNvSpPr/>
          <p:nvPr/>
        </p:nvSpPr>
        <p:spPr>
          <a:xfrm>
            <a:off x="749808" y="4133087"/>
            <a:ext cx="7589520" cy="347472"/>
          </a:xfrm>
          <a:prstGeom prst="roundRect">
            <a:avLst/>
          </a:prstGeom>
          <a:solidFill>
            <a:srgbClr val="2D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" y="4186317"/>
            <a:ext cx="7178040" cy="24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200"/>
              <a:t>Decision: </a:t>
            </a:r>
            <a:r>
              <a:rPr lang="en-US" altLang="zh-CN" sz="1200"/>
              <a:t> Keep all three for ensemble — each captures different error patterns</a:t>
            </a:r>
            <a:endParaRPr lang="en-US" altLang="zh-CN" sz="1200"/>
          </a:p>
        </p:txBody>
      </p:sp>
      <p:sp>
        <p:nvSpPr>
          <p:cNvPr id="36" name="TextBox 35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1" name="图片 10" descr="post_object_image_3854265773"/>
          <p:cNvPicPr>
            <a:picLocks noChangeAspect="1"/>
          </p:cNvPicPr>
          <p:nvPr/>
        </p:nvPicPr>
        <p:blipFill>
          <a:blip r:embed="rId16"/>
          <a:srcRect r="64525"/>
          <a:stretch>
            <a:fillRect/>
          </a:stretch>
        </p:blipFill>
        <p:spPr>
          <a:xfrm>
            <a:off x="584126" y="1945677"/>
            <a:ext cx="2197221" cy="2027724"/>
          </a:xfrm>
          <a:prstGeom prst="rect">
            <a:avLst/>
          </a:prstGeom>
        </p:spPr>
      </p:pic>
      <p:pic>
        <p:nvPicPr>
          <p:cNvPr id="13" name="图片 12" descr="post_object_image_1819260916"/>
          <p:cNvPicPr>
            <a:picLocks noChangeAspect="1"/>
          </p:cNvPicPr>
          <p:nvPr/>
        </p:nvPicPr>
        <p:blipFill>
          <a:blip r:embed="rId16"/>
          <a:srcRect l="35679" r="32208"/>
          <a:stretch>
            <a:fillRect/>
          </a:stretch>
        </p:blipFill>
        <p:spPr>
          <a:xfrm>
            <a:off x="3321672" y="1945677"/>
            <a:ext cx="2189737" cy="2027724"/>
          </a:xfrm>
          <a:prstGeom prst="rect">
            <a:avLst/>
          </a:prstGeom>
        </p:spPr>
      </p:pic>
      <p:pic>
        <p:nvPicPr>
          <p:cNvPr id="14" name="图片 13" descr="post_object_image_3174892407"/>
          <p:cNvPicPr>
            <a:picLocks noChangeAspect="1"/>
          </p:cNvPicPr>
          <p:nvPr/>
        </p:nvPicPr>
        <p:blipFill>
          <a:blip r:embed="rId16"/>
          <a:srcRect l="67236"/>
          <a:stretch>
            <a:fillRect/>
          </a:stretch>
        </p:blipFill>
        <p:spPr>
          <a:xfrm>
            <a:off x="6097125" y="1950466"/>
            <a:ext cx="2180782" cy="20229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63640" y="-1051560"/>
            <a:ext cx="2331720" cy="2331720"/>
          </a:xfrm>
          <a:prstGeom prst="ellipse">
            <a:avLst/>
          </a:prstGeom>
          <a:solidFill>
            <a:srgbClr val="3E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39712" y="2313432"/>
            <a:ext cx="2514600" cy="96012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36992" y="1353312"/>
            <a:ext cx="1600200" cy="59436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301879"/>
            <a:ext cx="1051560" cy="73152"/>
          </a:xfrm>
          <a:prstGeom prst="rect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365633"/>
            <a:ext cx="822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2400" b="1" i="0">
                <a:solidFill>
                  <a:srgbClr val="DDD1C1"/>
                </a:solidFill>
                <a:latin typeface="Aptos"/>
              </a:defRPr>
            </a:pPr>
            <a:r>
              <a:rPr lang="en-US" sz="3600"/>
              <a:t>03</a:t>
            </a:r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692785" y="2825750"/>
            <a:ext cx="7750810" cy="732155"/>
          </a:xfrm>
          <a:prstGeom prst="roundRect">
            <a:avLst>
              <a:gd name="adj" fmla="val 7692"/>
            </a:avLst>
          </a:prstGeom>
          <a:solidFill>
            <a:schemeClr val="bg2">
              <a:lumMod val="25000"/>
            </a:schemeClr>
          </a:solidFill>
          <a:ln w="10160">
            <a:solidFill>
              <a:srgbClr val="365B7B"/>
            </a:solidFill>
            <a:prstDash val="solid"/>
          </a:ln>
        </p:spPr>
      </p:sp>
      <p:sp>
        <p:nvSpPr>
          <p:cNvPr id="32" name="Text 7"/>
          <p:cNvSpPr/>
          <p:nvPr/>
        </p:nvSpPr>
        <p:spPr>
          <a:xfrm>
            <a:off x="-548767" y="3081655"/>
            <a:ext cx="1024128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Test baselines </a:t>
            </a:r>
            <a:r>
              <a:rPr lang="en-US" altLang="en-US" sz="1400" dirty="0">
                <a:solidFill>
                  <a:schemeClr val="bg1"/>
                </a:solidFill>
              </a:rPr>
              <a:t>→</a:t>
            </a:r>
            <a:r>
              <a:rPr lang="en-US" altLang="zh-CN" sz="1400" dirty="0">
                <a:solidFill>
                  <a:schemeClr val="bg1"/>
                </a:solidFill>
              </a:rPr>
              <a:t> analyze failures </a:t>
            </a:r>
            <a:r>
              <a:rPr lang="en-US" altLang="en-US" sz="1400" dirty="0">
                <a:solidFill>
                  <a:schemeClr val="bg1"/>
                </a:solidFill>
              </a:rPr>
              <a:t>→</a:t>
            </a:r>
            <a:r>
              <a:rPr lang="en-US" altLang="zh-CN" sz="1400" dirty="0">
                <a:solidFill>
                  <a:schemeClr val="bg1"/>
                </a:solidFill>
              </a:rPr>
              <a:t> compare error patterns </a:t>
            </a:r>
            <a:r>
              <a:rPr lang="en-US" altLang="en-US" sz="1400" dirty="0">
                <a:solidFill>
                  <a:schemeClr val="bg1"/>
                </a:solidFill>
              </a:rPr>
              <a:t>→</a:t>
            </a:r>
            <a:r>
              <a:rPr lang="en-US" altLang="zh-CN" sz="1400" dirty="0">
                <a:solidFill>
                  <a:schemeClr val="bg1"/>
                </a:solidFill>
              </a:rPr>
              <a:t> select stable ensemble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29590" y="1005205"/>
            <a:ext cx="74072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Optimization Journey</a:t>
            </a:r>
            <a:endParaRPr lang="en-US" altLang="en-US" sz="36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92658" y="179908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single Model to Stable Ensemble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347472" y="102590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794760" cy="27520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793" y="1161542"/>
            <a:ext cx="357530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50" b="1" i="0">
                <a:solidFill>
                  <a:srgbClr val="695F52"/>
                </a:solidFill>
                <a:latin typeface="Aptos"/>
              </a:defRPr>
            </a:pPr>
            <a:r>
              <a:t>Model performance comparison</a:t>
            </a:r>
          </a:p>
        </p:txBody>
      </p:sp>
      <p:pic>
        <p:nvPicPr>
          <p:cNvPr id="13" name="Picture 12" descr="slide12_im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" y="1388110"/>
            <a:ext cx="3284220" cy="2616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63440" y="1325880"/>
            <a:ext cx="3613785" cy="27590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313" y="1134872"/>
            <a:ext cx="339242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50" b="1" i="0">
                <a:solidFill>
                  <a:srgbClr val="695F52"/>
                </a:solidFill>
                <a:latin typeface="Aptos"/>
              </a:defRPr>
            </a:pPr>
            <a:r>
              <a:t>Accuracy vs. training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225" y="4198620"/>
            <a:ext cx="7746365" cy="80454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225" y="4199509"/>
            <a:ext cx="54864" cy="804672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355" y="4239895"/>
            <a:ext cx="7595870" cy="6889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66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200"/>
              <a:t>higher complexity </a:t>
            </a:r>
            <a:r>
              <a:rPr lang="en-US" altLang="zh-CN" sz="1200">
                <a:latin typeface="Arial" panose="020B0604020202020204" pitchFamily="34" charset="0"/>
                <a:cs typeface="Arial" panose="020B0604020202020204" pitchFamily="34" charset="0"/>
              </a:rPr>
              <a:t>≠</a:t>
            </a:r>
            <a:r>
              <a:rPr lang="en-US" altLang="zh-CN" sz="1200"/>
              <a:t> better efficiency</a:t>
            </a:r>
            <a:endParaRPr lang="en-US" altLang="zh-CN" sz="1200"/>
          </a:p>
          <a:p>
            <a:pPr algn="ctr">
              <a:defRPr sz="660" b="0" i="0">
                <a:solidFill>
                  <a:srgbClr val="695F52"/>
                </a:solidFill>
                <a:latin typeface="Aptos"/>
              </a:defRPr>
            </a:pPr>
            <a:endParaRPr lang="en-US" altLang="zh-CN" sz="1200"/>
          </a:p>
          <a:p>
            <a:pPr algn="ctr">
              <a:defRPr sz="660" b="0" i="0">
                <a:solidFill>
                  <a:srgbClr val="695F52"/>
                </a:solidFill>
                <a:latin typeface="Aptos"/>
              </a:defRPr>
            </a:pPr>
            <a:r>
              <a:rPr lang="en-US" altLang="zh-CN" sz="1200"/>
              <a:t>LightGBM, XGBoost, CatBoost </a:t>
            </a:r>
            <a:r>
              <a:rPr lang="en-US" altLang="en-US" sz="1200" dirty="0">
                <a:solidFill>
                  <a:schemeClr val="bg2">
                    <a:lumMod val="25000"/>
                  </a:schemeClr>
                </a:solidFill>
                <a:sym typeface="+mn-ea"/>
              </a:rPr>
              <a:t>→</a:t>
            </a:r>
            <a:r>
              <a:rPr lang="en-US" altLang="zh-CN" sz="1200"/>
              <a:t> a stronger balance between accuracy and computational cost</a:t>
            </a:r>
            <a:endParaRPr lang="en-US" altLang="zh-CN" sz="1200"/>
          </a:p>
        </p:txBody>
      </p:sp>
      <p:sp>
        <p:nvSpPr>
          <p:cNvPr id="30" name="TextBox 29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8" name="Text 3"/>
          <p:cNvSpPr/>
          <p:nvPr/>
        </p:nvSpPr>
        <p:spPr>
          <a:xfrm>
            <a:off x="377428" y="589788"/>
            <a:ext cx="81610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Optimization Attempts and Their Problems</a:t>
            </a:r>
            <a:endParaRPr lang="en-US" sz="1875" dirty="0"/>
          </a:p>
        </p:txBody>
      </p:sp>
      <p:sp>
        <p:nvSpPr>
          <p:cNvPr id="31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1</a:t>
            </a:r>
            <a:endParaRPr lang="en-US" sz="1100"/>
          </a:p>
        </p:txBody>
      </p:sp>
      <p:sp>
        <p:nvSpPr>
          <p:cNvPr id="33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Optimization</a:t>
            </a:r>
            <a:endParaRPr sz="1200"/>
          </a:p>
        </p:txBody>
      </p:sp>
      <p:sp>
        <p:nvSpPr>
          <p:cNvPr id="34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 lang="en-US" altLang="zh-CN">
              <a:latin typeface="Arial Regular" panose="020B0604020202090204" charset="0"/>
              <a:cs typeface="Arial Regular" panose="020B0604020202090204" charset="0"/>
            </a:endParaRPr>
          </a:p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pic>
        <p:nvPicPr>
          <p:cNvPr id="35" name="图片 2"/>
          <p:cNvPicPr>
            <a:picLocks noChangeAspect="1"/>
          </p:cNvPicPr>
          <p:nvPr/>
        </p:nvPicPr>
        <p:blipFill>
          <a:blip r:embed="rId2"/>
          <a:srcRect l="1114" t="-519" r="-62" b="16152"/>
          <a:stretch>
            <a:fillRect/>
          </a:stretch>
        </p:blipFill>
        <p:spPr>
          <a:xfrm>
            <a:off x="4836795" y="1409065"/>
            <a:ext cx="3284855" cy="2451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椭圆 35"/>
          <p:cNvSpPr/>
          <p:nvPr/>
        </p:nvSpPr>
        <p:spPr>
          <a:xfrm>
            <a:off x="5143500" y="1445260"/>
            <a:ext cx="723900" cy="82931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2</a:t>
            </a:r>
            <a:endParaRPr lang="en-US" sz="1100"/>
          </a:p>
        </p:txBody>
      </p:sp>
      <p:sp>
        <p:nvSpPr>
          <p:cNvPr id="4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Optimization</a:t>
            </a:r>
            <a:endParaRPr sz="1200"/>
          </a:p>
        </p:txBody>
      </p:sp>
      <p:sp>
        <p:nvSpPr>
          <p:cNvPr id="5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732520" y="137160"/>
            <a:ext cx="457200" cy="45720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hape 3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8890">
            <a:solidFill>
              <a:srgbClr val="D5E0EA"/>
            </a:solidFill>
            <a:prstDash val="solid"/>
          </a:ln>
        </p:spPr>
      </p:sp>
      <p:sp>
        <p:nvSpPr>
          <p:cNvPr id="84" name="Text 35"/>
          <p:cNvSpPr/>
          <p:nvPr/>
        </p:nvSpPr>
        <p:spPr>
          <a:xfrm>
            <a:off x="11228832" y="651052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850" dirty="0"/>
          </a:p>
        </p:txBody>
      </p:sp>
      <p:sp>
        <p:nvSpPr>
          <p:cNvPr id="88" name="Text 3"/>
          <p:cNvSpPr/>
          <p:nvPr/>
        </p:nvSpPr>
        <p:spPr>
          <a:xfrm>
            <a:off x="377428" y="589788"/>
            <a:ext cx="81610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Optimization Attempts and Their Problems</a:t>
            </a:r>
            <a:endParaRPr lang="en-US" sz="1875" dirty="0"/>
          </a:p>
        </p:txBody>
      </p:sp>
      <p:sp>
        <p:nvSpPr>
          <p:cNvPr id="89" name="Text 4"/>
          <p:cNvSpPr/>
          <p:nvPr/>
        </p:nvSpPr>
        <p:spPr>
          <a:xfrm>
            <a:off x="398002" y="905256"/>
            <a:ext cx="81610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More complexity did not always create better generalization.</a:t>
            </a:r>
            <a:endParaRPr lang="en-US" sz="940" dirty="0"/>
          </a:p>
        </p:txBody>
      </p:sp>
      <p:sp>
        <p:nvSpPr>
          <p:cNvPr id="90" name="Shape 5"/>
          <p:cNvSpPr/>
          <p:nvPr/>
        </p:nvSpPr>
        <p:spPr>
          <a:xfrm>
            <a:off x="377190" y="1200150"/>
            <a:ext cx="4638675" cy="3237230"/>
          </a:xfrm>
          <a:prstGeom prst="roundRect">
            <a:avLst>
              <a:gd name="adj" fmla="val 1059"/>
            </a:avLst>
          </a:prstGeom>
          <a:solidFill>
            <a:srgbClr val="FFFFFF"/>
          </a:solidFill>
          <a:ln w="11430">
            <a:solidFill>
              <a:srgbClr val="D5E0EA"/>
            </a:solidFill>
            <a:prstDash val="solid"/>
          </a:ln>
        </p:spPr>
      </p:sp>
      <p:sp>
        <p:nvSpPr>
          <p:cNvPr id="92" name="Text 6"/>
          <p:cNvSpPr/>
          <p:nvPr/>
        </p:nvSpPr>
        <p:spPr>
          <a:xfrm>
            <a:off x="562594" y="3545586"/>
            <a:ext cx="3669030" cy="23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86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 evidence: complex branches and extra models did not surpass the retained static ensemble.</a:t>
            </a:r>
            <a:endParaRPr lang="en-US" sz="865" dirty="0"/>
          </a:p>
        </p:txBody>
      </p:sp>
      <p:sp>
        <p:nvSpPr>
          <p:cNvPr id="93" name="Text 7"/>
          <p:cNvSpPr/>
          <p:nvPr/>
        </p:nvSpPr>
        <p:spPr>
          <a:xfrm>
            <a:off x="638032" y="3909060"/>
            <a:ext cx="99441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2D6CA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0.8113</a:t>
            </a:r>
            <a:endParaRPr lang="en-US" sz="1875" dirty="0"/>
          </a:p>
        </p:txBody>
      </p:sp>
      <p:sp>
        <p:nvSpPr>
          <p:cNvPr id="94" name="Text 8"/>
          <p:cNvSpPr/>
          <p:nvPr/>
        </p:nvSpPr>
        <p:spPr>
          <a:xfrm>
            <a:off x="638032" y="4203954"/>
            <a:ext cx="994410" cy="23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Catboost</a:t>
            </a:r>
            <a:endParaRPr lang="en-US" sz="790" dirty="0">
              <a:solidFill>
                <a:srgbClr val="475569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95" name="Text 9"/>
          <p:cNvSpPr/>
          <p:nvPr/>
        </p:nvSpPr>
        <p:spPr>
          <a:xfrm>
            <a:off x="2138283" y="3909695"/>
            <a:ext cx="99441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28C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0.8109</a:t>
            </a:r>
            <a:endParaRPr lang="en-US" sz="1875" dirty="0"/>
          </a:p>
        </p:txBody>
      </p:sp>
      <p:sp>
        <p:nvSpPr>
          <p:cNvPr id="96" name="Text 10"/>
          <p:cNvSpPr/>
          <p:nvPr/>
        </p:nvSpPr>
        <p:spPr>
          <a:xfrm>
            <a:off x="2138283" y="4204589"/>
            <a:ext cx="994410" cy="23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LightGBM</a:t>
            </a:r>
            <a:endParaRPr lang="en-US" sz="790" dirty="0"/>
          </a:p>
        </p:txBody>
      </p:sp>
      <p:sp>
        <p:nvSpPr>
          <p:cNvPr id="97" name="Text 11"/>
          <p:cNvSpPr/>
          <p:nvPr/>
        </p:nvSpPr>
        <p:spPr>
          <a:xfrm>
            <a:off x="3676634" y="3909060"/>
            <a:ext cx="99441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D84E4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0.8065</a:t>
            </a:r>
            <a:endParaRPr lang="en-US" sz="1875" dirty="0"/>
          </a:p>
        </p:txBody>
      </p:sp>
      <p:sp>
        <p:nvSpPr>
          <p:cNvPr id="98" name="Text 12"/>
          <p:cNvSpPr/>
          <p:nvPr/>
        </p:nvSpPr>
        <p:spPr>
          <a:xfrm>
            <a:off x="3676634" y="4203954"/>
            <a:ext cx="994410" cy="23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</a:t>
            </a:r>
            <a:endParaRPr lang="en-US" sz="790" dirty="0"/>
          </a:p>
        </p:txBody>
      </p:sp>
      <p:sp>
        <p:nvSpPr>
          <p:cNvPr id="99" name="Shape 13"/>
          <p:cNvSpPr/>
          <p:nvPr/>
        </p:nvSpPr>
        <p:spPr>
          <a:xfrm>
            <a:off x="5246989" y="1309878"/>
            <a:ext cx="233172" cy="233172"/>
          </a:xfrm>
          <a:prstGeom prst="ellipse">
            <a:avLst/>
          </a:prstGeom>
          <a:solidFill>
            <a:srgbClr val="2D6CA2"/>
          </a:solidFill>
          <a:ln w="12700">
            <a:solidFill>
              <a:srgbClr val="2D6CA2"/>
            </a:solidFill>
            <a:prstDash val="solid"/>
          </a:ln>
        </p:spPr>
      </p:sp>
      <p:sp>
        <p:nvSpPr>
          <p:cNvPr id="100" name="Shape 14"/>
          <p:cNvSpPr/>
          <p:nvPr/>
        </p:nvSpPr>
        <p:spPr>
          <a:xfrm>
            <a:off x="5363575" y="1543050"/>
            <a:ext cx="0" cy="274320"/>
          </a:xfrm>
          <a:prstGeom prst="line">
            <a:avLst/>
          </a:prstGeom>
          <a:noFill/>
          <a:ln w="15240">
            <a:solidFill>
              <a:srgbClr val="A8B7C7"/>
            </a:solidFill>
            <a:prstDash val="solid"/>
          </a:ln>
        </p:spPr>
      </p:sp>
      <p:sp>
        <p:nvSpPr>
          <p:cNvPr id="101" name="Text 15"/>
          <p:cNvSpPr/>
          <p:nvPr/>
        </p:nvSpPr>
        <p:spPr>
          <a:xfrm>
            <a:off x="5631037" y="1275588"/>
            <a:ext cx="33741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Logistic Regression</a:t>
            </a:r>
            <a:endParaRPr lang="en-US" sz="990" dirty="0"/>
          </a:p>
        </p:txBody>
      </p:sp>
      <p:sp>
        <p:nvSpPr>
          <p:cNvPr id="102" name="Text 16"/>
          <p:cNvSpPr/>
          <p:nvPr/>
        </p:nvSpPr>
        <p:spPr>
          <a:xfrm>
            <a:off x="5631037" y="1467612"/>
            <a:ext cx="3374136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and interpretable; too linear to capture interaction:like cryosleep*spending </a:t>
            </a:r>
            <a:endParaRPr lang="en-US" sz="805" dirty="0"/>
          </a:p>
        </p:txBody>
      </p:sp>
      <p:sp>
        <p:nvSpPr>
          <p:cNvPr id="103" name="Shape 17"/>
          <p:cNvSpPr/>
          <p:nvPr/>
        </p:nvSpPr>
        <p:spPr>
          <a:xfrm>
            <a:off x="5246989" y="1831086"/>
            <a:ext cx="233172" cy="233172"/>
          </a:xfrm>
          <a:prstGeom prst="ellipse">
            <a:avLst/>
          </a:prstGeom>
          <a:solidFill>
            <a:srgbClr val="2D6CA2"/>
          </a:solidFill>
          <a:ln w="12700">
            <a:solidFill>
              <a:srgbClr val="2D6CA2"/>
            </a:solidFill>
            <a:prstDash val="solid"/>
          </a:ln>
        </p:spPr>
      </p:sp>
      <p:sp>
        <p:nvSpPr>
          <p:cNvPr id="104" name="Shape 18"/>
          <p:cNvSpPr/>
          <p:nvPr/>
        </p:nvSpPr>
        <p:spPr>
          <a:xfrm>
            <a:off x="5363575" y="2064258"/>
            <a:ext cx="0" cy="274320"/>
          </a:xfrm>
          <a:prstGeom prst="line">
            <a:avLst/>
          </a:prstGeom>
          <a:noFill/>
          <a:ln w="15240">
            <a:solidFill>
              <a:srgbClr val="A8B7C7"/>
            </a:solidFill>
            <a:prstDash val="solid"/>
          </a:ln>
        </p:spPr>
      </p:sp>
      <p:sp>
        <p:nvSpPr>
          <p:cNvPr id="105" name="Text 19"/>
          <p:cNvSpPr/>
          <p:nvPr/>
        </p:nvSpPr>
        <p:spPr>
          <a:xfrm>
            <a:off x="5631037" y="1796796"/>
            <a:ext cx="33741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AdaBoost / Random Forest</a:t>
            </a:r>
            <a:endParaRPr lang="en-US" sz="990" dirty="0"/>
          </a:p>
        </p:txBody>
      </p:sp>
      <p:sp>
        <p:nvSpPr>
          <p:cNvPr id="106" name="Text 20"/>
          <p:cNvSpPr/>
          <p:nvPr/>
        </p:nvSpPr>
        <p:spPr>
          <a:xfrm>
            <a:off x="5631037" y="1988820"/>
            <a:ext cx="3374136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non-linear trees; higher cost</a:t>
            </a:r>
            <a:endParaRPr lang="en-US" sz="805" dirty="0"/>
          </a:p>
        </p:txBody>
      </p:sp>
      <p:sp>
        <p:nvSpPr>
          <p:cNvPr id="107" name="Shape 21"/>
          <p:cNvSpPr/>
          <p:nvPr/>
        </p:nvSpPr>
        <p:spPr>
          <a:xfrm>
            <a:off x="5246989" y="2352294"/>
            <a:ext cx="233172" cy="233172"/>
          </a:xfrm>
          <a:prstGeom prst="ellipse">
            <a:avLst/>
          </a:prstGeom>
          <a:solidFill>
            <a:srgbClr val="2CB1A5"/>
          </a:solidFill>
          <a:ln w="12700">
            <a:solidFill>
              <a:srgbClr val="2CB1A5"/>
            </a:solidFill>
            <a:prstDash val="solid"/>
          </a:ln>
        </p:spPr>
      </p:sp>
      <p:sp>
        <p:nvSpPr>
          <p:cNvPr id="108" name="Shape 22"/>
          <p:cNvSpPr/>
          <p:nvPr/>
        </p:nvSpPr>
        <p:spPr>
          <a:xfrm>
            <a:off x="5363575" y="2585466"/>
            <a:ext cx="0" cy="274320"/>
          </a:xfrm>
          <a:prstGeom prst="line">
            <a:avLst/>
          </a:prstGeom>
          <a:noFill/>
          <a:ln w="15240">
            <a:solidFill>
              <a:srgbClr val="A8B7C7"/>
            </a:solidFill>
            <a:prstDash val="solid"/>
          </a:ln>
        </p:spPr>
      </p:sp>
      <p:sp>
        <p:nvSpPr>
          <p:cNvPr id="109" name="Text 23"/>
          <p:cNvSpPr/>
          <p:nvPr/>
        </p:nvSpPr>
        <p:spPr>
          <a:xfrm>
            <a:off x="5631037" y="2318004"/>
            <a:ext cx="33741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</a:t>
            </a:r>
            <a:endParaRPr lang="en-US" sz="990" dirty="0"/>
          </a:p>
        </p:txBody>
      </p:sp>
      <p:sp>
        <p:nvSpPr>
          <p:cNvPr id="110" name="Text 24"/>
          <p:cNvSpPr/>
          <p:nvPr/>
        </p:nvSpPr>
        <p:spPr>
          <a:xfrm>
            <a:off x="5631037" y="2510028"/>
            <a:ext cx="3374136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useful for boudary cases; too unstable as main model</a:t>
            </a:r>
            <a:endParaRPr lang="en-US" sz="805" dirty="0"/>
          </a:p>
        </p:txBody>
      </p:sp>
      <p:sp>
        <p:nvSpPr>
          <p:cNvPr id="111" name="Shape 25"/>
          <p:cNvSpPr/>
          <p:nvPr/>
        </p:nvSpPr>
        <p:spPr>
          <a:xfrm>
            <a:off x="5246989" y="2873502"/>
            <a:ext cx="233172" cy="233172"/>
          </a:xfrm>
          <a:prstGeom prst="ellipse">
            <a:avLst/>
          </a:prstGeom>
          <a:solidFill>
            <a:srgbClr val="F28C52"/>
          </a:solidFill>
          <a:ln w="12700">
            <a:solidFill>
              <a:srgbClr val="F28C52"/>
            </a:solidFill>
            <a:prstDash val="solid"/>
          </a:ln>
        </p:spPr>
      </p:sp>
      <p:sp>
        <p:nvSpPr>
          <p:cNvPr id="112" name="Shape 26"/>
          <p:cNvSpPr/>
          <p:nvPr/>
        </p:nvSpPr>
        <p:spPr>
          <a:xfrm>
            <a:off x="5363575" y="3106674"/>
            <a:ext cx="0" cy="274320"/>
          </a:xfrm>
          <a:prstGeom prst="line">
            <a:avLst/>
          </a:prstGeom>
          <a:noFill/>
          <a:ln w="15240">
            <a:solidFill>
              <a:srgbClr val="A8B7C7"/>
            </a:solidFill>
            <a:prstDash val="solid"/>
          </a:ln>
        </p:spPr>
      </p:sp>
      <p:sp>
        <p:nvSpPr>
          <p:cNvPr id="113" name="Text 27"/>
          <p:cNvSpPr/>
          <p:nvPr/>
        </p:nvSpPr>
        <p:spPr>
          <a:xfrm>
            <a:off x="5631037" y="2839212"/>
            <a:ext cx="33741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LightGBM</a:t>
            </a:r>
            <a:endParaRPr lang="en-US" sz="990" b="1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28"/>
          <p:cNvSpPr/>
          <p:nvPr/>
        </p:nvSpPr>
        <p:spPr>
          <a:xfrm>
            <a:off x="5631037" y="3105531"/>
            <a:ext cx="3374136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Efficient and accurate; but may make more aggressive decisions on ambiguous samples</a:t>
            </a:r>
            <a:endParaRPr lang="en-US" sz="805" dirty="0"/>
          </a:p>
        </p:txBody>
      </p:sp>
      <p:sp>
        <p:nvSpPr>
          <p:cNvPr id="115" name="Shape 29"/>
          <p:cNvSpPr/>
          <p:nvPr/>
        </p:nvSpPr>
        <p:spPr>
          <a:xfrm>
            <a:off x="5246989" y="3394710"/>
            <a:ext cx="233172" cy="233172"/>
          </a:xfrm>
          <a:prstGeom prst="ellipse">
            <a:avLst/>
          </a:prstGeom>
          <a:solidFill>
            <a:srgbClr val="D84E4E"/>
          </a:solidFill>
          <a:ln w="12700">
            <a:solidFill>
              <a:srgbClr val="D84E4E"/>
            </a:solidFill>
            <a:prstDash val="solid"/>
          </a:ln>
        </p:spPr>
      </p:sp>
      <p:sp>
        <p:nvSpPr>
          <p:cNvPr id="116" name="Text 30"/>
          <p:cNvSpPr/>
          <p:nvPr/>
        </p:nvSpPr>
        <p:spPr>
          <a:xfrm>
            <a:off x="5631037" y="3360420"/>
            <a:ext cx="33741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CatBoost</a:t>
            </a:r>
            <a:endParaRPr lang="en-US" sz="990" dirty="0"/>
          </a:p>
        </p:txBody>
      </p:sp>
      <p:sp>
        <p:nvSpPr>
          <p:cNvPr id="117" name="Text 31"/>
          <p:cNvSpPr/>
          <p:nvPr/>
        </p:nvSpPr>
        <p:spPr>
          <a:xfrm>
            <a:off x="5631037" y="3552444"/>
            <a:ext cx="3374136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Strongest single model; cannot solve all boundary-case errors</a:t>
            </a:r>
            <a:endParaRPr lang="en-US" sz="805" dirty="0"/>
          </a:p>
        </p:txBody>
      </p:sp>
      <p:sp>
        <p:nvSpPr>
          <p:cNvPr id="118" name="Shape 32"/>
          <p:cNvSpPr/>
          <p:nvPr/>
        </p:nvSpPr>
        <p:spPr>
          <a:xfrm>
            <a:off x="5150469" y="3909314"/>
            <a:ext cx="3854196" cy="562356"/>
          </a:xfrm>
          <a:prstGeom prst="roundRect">
            <a:avLst>
              <a:gd name="adj" fmla="val 8537"/>
            </a:avLst>
          </a:prstGeom>
          <a:solidFill>
            <a:srgbClr val="EAF3FA"/>
          </a:solidFill>
          <a:ln w="13970">
            <a:solidFill>
              <a:srgbClr val="2D6CA2"/>
            </a:solidFill>
            <a:prstDash val="solid"/>
          </a:ln>
        </p:spPr>
      </p:sp>
      <p:sp>
        <p:nvSpPr>
          <p:cNvPr id="119" name="Text 33"/>
          <p:cNvSpPr/>
          <p:nvPr/>
        </p:nvSpPr>
        <p:spPr>
          <a:xfrm>
            <a:off x="5301345" y="4004818"/>
            <a:ext cx="3552444" cy="370332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marL="0" indent="0">
              <a:buNone/>
            </a:pPr>
            <a:r>
              <a:rPr lang="en-US" altLang="zh-CN" sz="990" dirty="0">
                <a:latin typeface="Arial Regular" panose="020B0604020202090204" charset="0"/>
                <a:cs typeface="Arial Regular" panose="020B0604020202090204" charset="0"/>
              </a:rPr>
              <a:t>Single-model results show a clear trend: boosted-tree models provide stronger accuracy than early baseline methods.</a:t>
            </a:r>
            <a:endParaRPr lang="en-US" altLang="zh-CN" sz="99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20" name="Shape 34"/>
          <p:cNvSpPr/>
          <p:nvPr/>
        </p:nvSpPr>
        <p:spPr>
          <a:xfrm>
            <a:off x="377428" y="4814316"/>
            <a:ext cx="8401050" cy="0"/>
          </a:xfrm>
          <a:prstGeom prst="line">
            <a:avLst/>
          </a:prstGeom>
          <a:noFill/>
          <a:ln w="8890">
            <a:solidFill>
              <a:srgbClr val="D5E0EA"/>
            </a:solidFill>
            <a:prstDash val="solid"/>
          </a:ln>
        </p:spPr>
      </p:sp>
      <p:sp>
        <p:nvSpPr>
          <p:cNvPr id="121" name="Text 35"/>
          <p:cNvSpPr/>
          <p:nvPr/>
        </p:nvSpPr>
        <p:spPr>
          <a:xfrm>
            <a:off x="8421862" y="4882896"/>
            <a:ext cx="308610" cy="123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640" dirty="0"/>
          </a:p>
        </p:txBody>
      </p:sp>
      <p:pic>
        <p:nvPicPr>
          <p:cNvPr id="125" name="图片 124" descr="single_model_accuracy_comparison_catboost_081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80" y="1200150"/>
            <a:ext cx="4617085" cy="2658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347472" y="585216"/>
            <a:ext cx="70408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000" b="1" i="0">
                <a:solidFill>
                  <a:srgbClr val="312B24"/>
                </a:solidFill>
                <a:latin typeface="Aptos"/>
              </a:defRPr>
            </a:pPr>
            <a:r>
              <a:t>Error Analysis: Why the Ensemble Choice Is Defensible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7863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80" b="0" i="0">
                <a:solidFill>
                  <a:srgbClr val="695F52"/>
                </a:solidFill>
                <a:latin typeface="Aptos"/>
              </a:defRPr>
            </a:pPr>
            <a:r>
              <a:t>The boosted models are close in accuracy, but their confusion matrices are not identical.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133856"/>
            <a:ext cx="8138160" cy="13716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1836420" cy="16668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13_img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74980" y="1379855"/>
            <a:ext cx="1548000" cy="1548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322830" y="1325880"/>
            <a:ext cx="1903095" cy="166751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13_img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66340" y="1386205"/>
            <a:ext cx="1548000" cy="1548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5760" y="3150870"/>
            <a:ext cx="1828800" cy="16402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13_img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20065" y="3198495"/>
            <a:ext cx="1548000" cy="1548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353945" y="3150870"/>
            <a:ext cx="1903730" cy="166814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lide13_img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527300" y="3198495"/>
            <a:ext cx="1548000" cy="1548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09135" y="1325880"/>
            <a:ext cx="4279265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9135" y="1325880"/>
            <a:ext cx="76200" cy="2103120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6714" y="1362582"/>
            <a:ext cx="3977639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200" b="1" i="0">
                <a:solidFill>
                  <a:srgbClr val="312B24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6460" y="1658620"/>
            <a:ext cx="4047490" cy="1370965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/>
              <a:t>• Models with similar accuracy still made different types of errors.</a:t>
            </a:r>
            <a:endParaRPr lang="en-US" altLang="zh-CN" sz="1000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/>
              <a:t>• LightGBM and Gradient Boosting produced more balanced error patterns.</a:t>
            </a:r>
            <a:endParaRPr lang="en-US" altLang="zh-CN" sz="1000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/>
              <a:t>• XGBoost helped some boundary cases, but was unstable as the main model</a:t>
            </a:r>
            <a:endParaRPr lang="en-US" altLang="zh-CN" sz="1000"/>
          </a:p>
          <a:p>
            <a:pPr>
              <a:lnSpc>
                <a:spcPct val="108000"/>
              </a:lnSpc>
              <a:spcAft>
                <a:spcPts val="400"/>
              </a:spcAft>
              <a:defRPr sz="800">
                <a:solidFill>
                  <a:srgbClr val="695F52"/>
                </a:solidFill>
                <a:latin typeface="Aptos"/>
              </a:defRPr>
            </a:pPr>
            <a:r>
              <a:rPr lang="en-US" altLang="zh-CN" sz="1000"/>
              <a:t>• Extra Trees, dynamic stacking and aggressive feature engineering added noise instead of reliable improvement.</a:t>
            </a:r>
            <a:endParaRPr lang="en-US" altLang="zh-CN" sz="1000"/>
          </a:p>
        </p:txBody>
      </p:sp>
      <p:sp>
        <p:nvSpPr>
          <p:cNvPr id="23" name="Rounded Rectangle 22"/>
          <p:cNvSpPr/>
          <p:nvPr/>
        </p:nvSpPr>
        <p:spPr>
          <a:xfrm>
            <a:off x="4543425" y="3611245"/>
            <a:ext cx="4244975" cy="117983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9135" y="3610610"/>
            <a:ext cx="76200" cy="1208405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6460" y="3698240"/>
            <a:ext cx="4119245" cy="8521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740" b="0" i="0">
                <a:solidFill>
                  <a:srgbClr val="695F52"/>
                </a:solidFill>
                <a:latin typeface="Aptos"/>
              </a:defRPr>
            </a:pPr>
            <a:endParaRPr sz="1400"/>
          </a:p>
          <a:p>
            <a:pPr algn="l">
              <a:defRPr sz="740" b="0" i="0">
                <a:solidFill>
                  <a:srgbClr val="695F52"/>
                </a:solidFill>
                <a:latin typeface="Aptos"/>
              </a:defRPr>
            </a:pPr>
            <a:r>
              <a:rPr sz="1400"/>
              <a:t>The best result came from controlled feature engineering </a:t>
            </a:r>
            <a:r>
              <a:rPr lang="en-US" sz="1400"/>
              <a:t>+</a:t>
            </a:r>
            <a:r>
              <a:rPr sz="1400"/>
              <a:t> a compact boosted ensemble</a:t>
            </a:r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8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3</a:t>
            </a:r>
            <a:endParaRPr lang="en-US" sz="1100"/>
          </a:p>
        </p:txBody>
      </p:sp>
      <p:sp>
        <p:nvSpPr>
          <p:cNvPr id="30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lang="en-US" sz="1200"/>
              <a:t>Optimization</a:t>
            </a:r>
            <a:endParaRPr lang="en-US" sz="1200"/>
          </a:p>
        </p:txBody>
      </p:sp>
      <p:sp>
        <p:nvSpPr>
          <p:cNvPr id="31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8" name="TextBox 2"/>
          <p:cNvSpPr txBox="1"/>
          <p:nvPr/>
        </p:nvSpPr>
        <p:spPr>
          <a:xfrm>
            <a:off x="377428" y="569214"/>
            <a:ext cx="4556760" cy="437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E36"/>
                </a:solidFill>
              </a:defRPr>
            </a:pPr>
            <a:r>
              <a:rPr sz="2250">
                <a:solidFill>
                  <a:schemeClr val="bg2">
                    <a:lumMod val="10000"/>
                  </a:schemeClr>
                </a:solidFill>
              </a:rPr>
              <a:t>Multi-Model Fusion Comparison</a:t>
            </a:r>
            <a:endParaRPr sz="225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TextBox 3"/>
          <p:cNvSpPr txBox="1"/>
          <p:nvPr/>
        </p:nvSpPr>
        <p:spPr>
          <a:xfrm>
            <a:off x="398002" y="905256"/>
            <a:ext cx="7813675" cy="241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363"/>
                </a:solidFill>
              </a:defRPr>
            </a:pPr>
            <a:r>
              <a:rPr sz="975"/>
              <a:t>Static boosted-tree fusion produced the most stable retained result compared with dynamic stacking and aggressive feature engineering.</a:t>
            </a:r>
            <a:endParaRPr sz="975"/>
          </a:p>
        </p:txBody>
      </p:sp>
      <p:sp>
        <p:nvSpPr>
          <p:cNvPr id="30" name="Rounded Rectangle 4"/>
          <p:cNvSpPr/>
          <p:nvPr/>
        </p:nvSpPr>
        <p:spPr>
          <a:xfrm>
            <a:off x="377825" y="1198880"/>
            <a:ext cx="5822950" cy="3458845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31" name="Picture 5" descr="multi_model_fusion_comparison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162" y="1385316"/>
            <a:ext cx="5506973" cy="3099815"/>
          </a:xfrm>
          <a:prstGeom prst="rect">
            <a:avLst/>
          </a:prstGeom>
        </p:spPr>
      </p:pic>
      <p:sp>
        <p:nvSpPr>
          <p:cNvPr id="32" name="TextBox 6"/>
          <p:cNvSpPr txBox="1"/>
          <p:nvPr/>
        </p:nvSpPr>
        <p:spPr>
          <a:xfrm>
            <a:off x="6331569" y="1207135"/>
            <a:ext cx="1236980" cy="299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E36"/>
                </a:solidFill>
              </a:defRPr>
            </a:pPr>
            <a:r>
              <a:rPr sz="1350"/>
              <a:t>Key Findings</a:t>
            </a:r>
            <a:endParaRPr sz="1350"/>
          </a:p>
        </p:txBody>
      </p:sp>
      <p:sp>
        <p:nvSpPr>
          <p:cNvPr id="33" name="Rounded Rectangle 7"/>
          <p:cNvSpPr/>
          <p:nvPr/>
        </p:nvSpPr>
        <p:spPr>
          <a:xfrm>
            <a:off x="6331585" y="1529715"/>
            <a:ext cx="2573655" cy="63119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8"/>
          <p:cNvSpPr txBox="1"/>
          <p:nvPr/>
        </p:nvSpPr>
        <p:spPr>
          <a:xfrm>
            <a:off x="6323314" y="1708277"/>
            <a:ext cx="839470" cy="311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06DA0"/>
                </a:solidFill>
              </a:defRPr>
            </a:pPr>
            <a:r>
              <a:rPr sz="1425"/>
              <a:t>0.81201</a:t>
            </a:r>
            <a:endParaRPr sz="1425"/>
          </a:p>
        </p:txBody>
      </p:sp>
      <p:sp>
        <p:nvSpPr>
          <p:cNvPr id="35" name="TextBox 9"/>
          <p:cNvSpPr txBox="1"/>
          <p:nvPr/>
        </p:nvSpPr>
        <p:spPr>
          <a:xfrm>
            <a:off x="7277973" y="1604899"/>
            <a:ext cx="136906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1E36"/>
                </a:solidFill>
              </a:defRPr>
            </a:pPr>
            <a:r>
              <a:rPr sz="1000"/>
              <a:t>Best retained score</a:t>
            </a:r>
            <a:endParaRPr sz="1000"/>
          </a:p>
        </p:txBody>
      </p:sp>
      <p:sp>
        <p:nvSpPr>
          <p:cNvPr id="36" name="TextBox 10"/>
          <p:cNvSpPr txBox="1"/>
          <p:nvPr/>
        </p:nvSpPr>
        <p:spPr>
          <a:xfrm>
            <a:off x="6999208" y="1821180"/>
            <a:ext cx="1989455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70">
                <a:solidFill>
                  <a:srgbClr val="465363"/>
                </a:solidFill>
              </a:defRPr>
            </a:pPr>
            <a:r>
              <a:rPr sz="800"/>
              <a:t>CatBoost + LightGBM + XGBoost static</a:t>
            </a:r>
            <a:endParaRPr sz="800"/>
          </a:p>
        </p:txBody>
      </p:sp>
      <p:sp>
        <p:nvSpPr>
          <p:cNvPr id="37" name="Rounded Rectangle 11"/>
          <p:cNvSpPr/>
          <p:nvPr/>
        </p:nvSpPr>
        <p:spPr>
          <a:xfrm>
            <a:off x="6331585" y="2263140"/>
            <a:ext cx="2573655" cy="63119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12"/>
          <p:cNvSpPr txBox="1"/>
          <p:nvPr/>
        </p:nvSpPr>
        <p:spPr>
          <a:xfrm>
            <a:off x="6331569" y="2438908"/>
            <a:ext cx="839470" cy="311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E8D53"/>
                </a:solidFill>
              </a:defRPr>
            </a:pPr>
            <a:r>
              <a:rPr sz="1425"/>
              <a:t>0.80664</a:t>
            </a:r>
            <a:endParaRPr sz="1425"/>
          </a:p>
        </p:txBody>
      </p:sp>
      <p:sp>
        <p:nvSpPr>
          <p:cNvPr id="39" name="TextBox 13"/>
          <p:cNvSpPr txBox="1"/>
          <p:nvPr/>
        </p:nvSpPr>
        <p:spPr>
          <a:xfrm>
            <a:off x="7277973" y="2338705"/>
            <a:ext cx="126555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1E36"/>
                </a:solidFill>
              </a:defRPr>
            </a:pPr>
            <a:r>
              <a:rPr sz="1000"/>
              <a:t>Dynamic stacking</a:t>
            </a:r>
            <a:endParaRPr sz="1000"/>
          </a:p>
        </p:txBody>
      </p:sp>
      <p:sp>
        <p:nvSpPr>
          <p:cNvPr id="40" name="TextBox 14"/>
          <p:cNvSpPr txBox="1"/>
          <p:nvPr/>
        </p:nvSpPr>
        <p:spPr>
          <a:xfrm>
            <a:off x="7469108" y="2558161"/>
            <a:ext cx="805815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70">
                <a:solidFill>
                  <a:srgbClr val="465363"/>
                </a:solidFill>
              </a:defRPr>
            </a:pPr>
            <a:r>
              <a:rPr sz="800"/>
              <a:t>lower stability</a:t>
            </a:r>
            <a:endParaRPr sz="800"/>
          </a:p>
        </p:txBody>
      </p:sp>
      <p:sp>
        <p:nvSpPr>
          <p:cNvPr id="41" name="Rounded Rectangle 15"/>
          <p:cNvSpPr/>
          <p:nvPr/>
        </p:nvSpPr>
        <p:spPr>
          <a:xfrm>
            <a:off x="6331585" y="2997200"/>
            <a:ext cx="2573655" cy="63119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16"/>
          <p:cNvSpPr txBox="1"/>
          <p:nvPr/>
        </p:nvSpPr>
        <p:spPr>
          <a:xfrm>
            <a:off x="6330299" y="3144139"/>
            <a:ext cx="839470" cy="311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D74C4F"/>
                </a:solidFill>
              </a:defRPr>
            </a:pPr>
            <a:r>
              <a:rPr sz="1425"/>
              <a:t>0.63338</a:t>
            </a:r>
            <a:endParaRPr sz="1425"/>
          </a:p>
        </p:txBody>
      </p:sp>
      <p:sp>
        <p:nvSpPr>
          <p:cNvPr id="43" name="TextBox 17"/>
          <p:cNvSpPr txBox="1"/>
          <p:nvPr/>
        </p:nvSpPr>
        <p:spPr>
          <a:xfrm>
            <a:off x="7498953" y="3072511"/>
            <a:ext cx="97917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1E36"/>
                </a:solidFill>
              </a:defRPr>
            </a:pPr>
            <a:r>
              <a:rPr sz="1000"/>
              <a:t>Advanced FE</a:t>
            </a:r>
            <a:endParaRPr sz="1000"/>
          </a:p>
        </p:txBody>
      </p:sp>
      <p:sp>
        <p:nvSpPr>
          <p:cNvPr id="44" name="TextBox 18"/>
          <p:cNvSpPr txBox="1"/>
          <p:nvPr/>
        </p:nvSpPr>
        <p:spPr>
          <a:xfrm>
            <a:off x="7266543" y="3291967"/>
            <a:ext cx="1612265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70">
                <a:solidFill>
                  <a:srgbClr val="465363"/>
                </a:solidFill>
              </a:defRPr>
            </a:pPr>
            <a:r>
              <a:rPr sz="800"/>
              <a:t>damaged train/test consistency</a:t>
            </a:r>
            <a:endParaRPr sz="800"/>
          </a:p>
        </p:txBody>
      </p:sp>
      <p:sp>
        <p:nvSpPr>
          <p:cNvPr id="45" name="Rounded Rectangle 19"/>
          <p:cNvSpPr/>
          <p:nvPr/>
        </p:nvSpPr>
        <p:spPr>
          <a:xfrm>
            <a:off x="6323330" y="3943350"/>
            <a:ext cx="2434590" cy="716280"/>
          </a:xfrm>
          <a:prstGeom prst="roundRect">
            <a:avLst/>
          </a:prstGeom>
          <a:solidFill>
            <a:srgbClr val="E8F2FB"/>
          </a:solidFill>
          <a:ln>
            <a:solidFill>
              <a:srgbClr val="2C6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20"/>
          <p:cNvSpPr txBox="1"/>
          <p:nvPr/>
        </p:nvSpPr>
        <p:spPr>
          <a:xfrm>
            <a:off x="6355080" y="3978910"/>
            <a:ext cx="243459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E36"/>
                </a:solidFill>
              </a:defRPr>
            </a:pPr>
            <a:r>
              <a:rPr sz="1200"/>
              <a:t>Final choice: </a:t>
            </a:r>
            <a:endParaRPr sz="1200"/>
          </a:p>
          <a:p>
            <a:pPr indent="457200">
              <a:defRPr sz="1100" b="1">
                <a:solidFill>
                  <a:srgbClr val="0E1E36"/>
                </a:solidFill>
              </a:defRPr>
            </a:pPr>
            <a:r>
              <a:rPr sz="1200"/>
              <a:t>compact static fusion</a:t>
            </a:r>
            <a:endParaRPr sz="1200"/>
          </a:p>
        </p:txBody>
      </p:sp>
      <p:sp>
        <p:nvSpPr>
          <p:cNvPr id="48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4</a:t>
            </a:r>
            <a:endParaRPr lang="en-US" sz="1100"/>
          </a:p>
        </p:txBody>
      </p:sp>
      <p:sp>
        <p:nvSpPr>
          <p:cNvPr id="50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Optimization</a:t>
            </a:r>
            <a:endParaRPr sz="1200"/>
          </a:p>
        </p:txBody>
      </p:sp>
      <p:sp>
        <p:nvSpPr>
          <p:cNvPr id="51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Oval 8"/>
          <p:cNvSpPr/>
          <p:nvPr/>
        </p:nvSpPr>
        <p:spPr>
          <a:xfrm>
            <a:off x="8549640" y="91440"/>
            <a:ext cx="438912" cy="438912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256032"/>
            <a:ext cx="2286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ctr">
              <a:defRPr sz="680" b="0" i="0">
                <a:solidFill>
                  <a:srgbClr val="695F5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4818888"/>
            <a:ext cx="22860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r">
              <a:defRPr sz="650" b="0" i="0">
                <a:solidFill>
                  <a:srgbClr val="BCA99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0" name="Text 2"/>
          <p:cNvSpPr/>
          <p:nvPr/>
        </p:nvSpPr>
        <p:spPr>
          <a:xfrm>
            <a:off x="356854" y="603504"/>
            <a:ext cx="802386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Path: Improvement and Failed Branches</a:t>
            </a:r>
            <a:endParaRPr lang="en-US" sz="1950" dirty="0"/>
          </a:p>
        </p:txBody>
      </p:sp>
      <p:sp>
        <p:nvSpPr>
          <p:cNvPr id="31" name="Text 3"/>
          <p:cNvSpPr/>
          <p:nvPr/>
        </p:nvSpPr>
        <p:spPr>
          <a:xfrm>
            <a:off x="370570" y="946404"/>
            <a:ext cx="74066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The final model was chosen not only for score, but for stability across optimization attempts.</a:t>
            </a:r>
            <a:endParaRPr lang="en-US" sz="900" dirty="0"/>
          </a:p>
        </p:txBody>
      </p:sp>
      <p:pic>
        <p:nvPicPr>
          <p:cNvPr id="32" name="Image 0" descr="/mnt/data/AA6305F4-3961-493D-AA34-0097477815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30" y="1371600"/>
            <a:ext cx="4716780" cy="2592070"/>
          </a:xfrm>
          <a:prstGeom prst="rect">
            <a:avLst/>
          </a:prstGeom>
        </p:spPr>
      </p:pic>
      <p:sp>
        <p:nvSpPr>
          <p:cNvPr id="39" name="Text 10"/>
          <p:cNvSpPr/>
          <p:nvPr/>
        </p:nvSpPr>
        <p:spPr>
          <a:xfrm>
            <a:off x="5568934" y="1303020"/>
            <a:ext cx="305181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path tells us</a:t>
            </a:r>
            <a:endParaRPr lang="en-US" sz="1425" dirty="0"/>
          </a:p>
        </p:txBody>
      </p:sp>
      <p:sp>
        <p:nvSpPr>
          <p:cNvPr id="40" name="Shape 11"/>
          <p:cNvSpPr/>
          <p:nvPr/>
        </p:nvSpPr>
        <p:spPr>
          <a:xfrm>
            <a:off x="5575792" y="1680210"/>
            <a:ext cx="233172" cy="233172"/>
          </a:xfrm>
          <a:prstGeom prst="ellipse">
            <a:avLst/>
          </a:prstGeom>
          <a:solidFill>
            <a:srgbClr val="2F6FA7"/>
          </a:solidFill>
          <a:ln w="12700">
            <a:solidFill>
              <a:srgbClr val="2F6FA7"/>
            </a:solidFill>
            <a:prstDash val="solid"/>
          </a:ln>
        </p:spPr>
      </p:sp>
      <p:sp>
        <p:nvSpPr>
          <p:cNvPr id="41" name="Text 12"/>
          <p:cNvSpPr/>
          <p:nvPr/>
        </p:nvSpPr>
        <p:spPr>
          <a:xfrm>
            <a:off x="5575792" y="1721358"/>
            <a:ext cx="233172" cy="82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42" name="Text 13"/>
          <p:cNvSpPr/>
          <p:nvPr/>
        </p:nvSpPr>
        <p:spPr>
          <a:xfrm>
            <a:off x="5911834" y="1666494"/>
            <a:ext cx="284607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40" b="1" dirty="0">
                <a:latin typeface="Arial Bold" panose="020B0604020202090204" charset="0"/>
                <a:cs typeface="Arial Bold" panose="020B0604020202090204" charset="0"/>
              </a:rPr>
              <a:t>Static ensemble tuning produced the most reliable improvement.</a:t>
            </a:r>
            <a:endParaRPr lang="en-US" altLang="zh-CN" sz="94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5911834" y="1872234"/>
            <a:ext cx="2777490" cy="2880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The score moved from the weak baseline to above 0.81 after weighted voting.</a:t>
            </a:r>
            <a:endParaRPr lang="en-US" sz="735" dirty="0"/>
          </a:p>
        </p:txBody>
      </p:sp>
      <p:sp>
        <p:nvSpPr>
          <p:cNvPr id="44" name="Shape 15"/>
          <p:cNvSpPr/>
          <p:nvPr/>
        </p:nvSpPr>
        <p:spPr>
          <a:xfrm>
            <a:off x="5575792" y="2311146"/>
            <a:ext cx="233172" cy="233172"/>
          </a:xfrm>
          <a:prstGeom prst="ellipse">
            <a:avLst/>
          </a:prstGeom>
          <a:solidFill>
            <a:srgbClr val="28B4A5"/>
          </a:solidFill>
          <a:ln w="12700">
            <a:solidFill>
              <a:srgbClr val="28B4A5"/>
            </a:solidFill>
            <a:prstDash val="solid"/>
          </a:ln>
        </p:spPr>
      </p:sp>
      <p:sp>
        <p:nvSpPr>
          <p:cNvPr id="46" name="Text 17"/>
          <p:cNvSpPr/>
          <p:nvPr/>
        </p:nvSpPr>
        <p:spPr>
          <a:xfrm>
            <a:off x="5911834" y="2297430"/>
            <a:ext cx="284607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11827"/>
                </a:solidFill>
                <a:latin typeface="Arial Bold" panose="020B0604020202090204" charset="0"/>
                <a:ea typeface="Aptos" pitchFamily="34" charset="-122"/>
                <a:cs typeface="Arial Bold" panose="020B0604020202090204" charset="0"/>
              </a:rPr>
              <a:t>Fine search reached a plateau</a:t>
            </a:r>
            <a:endParaRPr lang="en-US" sz="94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5911834" y="2503170"/>
            <a:ext cx="2777490" cy="2880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Nearby weights and thresholds repeatedly stayed around the same high-score region.</a:t>
            </a:r>
            <a:endParaRPr lang="en-US" sz="735" dirty="0"/>
          </a:p>
        </p:txBody>
      </p:sp>
      <p:sp>
        <p:nvSpPr>
          <p:cNvPr id="48" name="Shape 19"/>
          <p:cNvSpPr/>
          <p:nvPr/>
        </p:nvSpPr>
        <p:spPr>
          <a:xfrm>
            <a:off x="5575792" y="2942082"/>
            <a:ext cx="233172" cy="233172"/>
          </a:xfrm>
          <a:prstGeom prst="ellipse">
            <a:avLst/>
          </a:prstGeom>
          <a:solidFill>
            <a:srgbClr val="F28C50"/>
          </a:solidFill>
          <a:ln w="12700">
            <a:solidFill>
              <a:srgbClr val="F28C50"/>
            </a:solidFill>
            <a:prstDash val="solid"/>
          </a:ln>
        </p:spPr>
      </p:sp>
      <p:sp>
        <p:nvSpPr>
          <p:cNvPr id="50" name="Text 21"/>
          <p:cNvSpPr/>
          <p:nvPr/>
        </p:nvSpPr>
        <p:spPr>
          <a:xfrm>
            <a:off x="5911834" y="2928366"/>
            <a:ext cx="284607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11827"/>
                </a:solidFill>
                <a:latin typeface="Arial Bold" panose="020B0604020202090204" charset="0"/>
                <a:ea typeface="Aptos" pitchFamily="34" charset="-122"/>
                <a:cs typeface="Arial Bold" panose="020B0604020202090204" charset="0"/>
              </a:rPr>
              <a:t>Single-branch optimization was not enough</a:t>
            </a:r>
            <a:endParaRPr lang="en-US" sz="94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5911834" y="3134106"/>
            <a:ext cx="2777490" cy="2880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Pruning and XGBoost-only branches looked reasonable locally but did not transfer as well.</a:t>
            </a:r>
            <a:endParaRPr lang="en-US" sz="735" dirty="0"/>
          </a:p>
        </p:txBody>
      </p:sp>
      <p:sp>
        <p:nvSpPr>
          <p:cNvPr id="52" name="Shape 23"/>
          <p:cNvSpPr/>
          <p:nvPr/>
        </p:nvSpPr>
        <p:spPr>
          <a:xfrm>
            <a:off x="5575792" y="3573018"/>
            <a:ext cx="233172" cy="233172"/>
          </a:xfrm>
          <a:prstGeom prst="ellipse">
            <a:avLst/>
          </a:prstGeom>
          <a:solidFill>
            <a:srgbClr val="D9514E"/>
          </a:solidFill>
          <a:ln w="12700">
            <a:solidFill>
              <a:srgbClr val="D9514E"/>
            </a:solidFill>
            <a:prstDash val="solid"/>
          </a:ln>
        </p:spPr>
      </p:sp>
      <p:sp>
        <p:nvSpPr>
          <p:cNvPr id="54" name="Text 25"/>
          <p:cNvSpPr/>
          <p:nvPr/>
        </p:nvSpPr>
        <p:spPr>
          <a:xfrm>
            <a:off x="5911834" y="3559302"/>
            <a:ext cx="284607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11827"/>
                </a:solidFill>
                <a:latin typeface="Arial Bold" panose="020B0604020202090204" charset="0"/>
                <a:ea typeface="Aptos" pitchFamily="34" charset="-122"/>
                <a:cs typeface="Arial Bold" panose="020B0604020202090204" charset="0"/>
              </a:rPr>
              <a:t>Aggressive features damaged stability</a:t>
            </a:r>
            <a:endParaRPr lang="en-US" sz="94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5911834" y="3765042"/>
            <a:ext cx="2777490" cy="2880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Over-complex feature construction broke train/test consistency and caused the largest drop.</a:t>
            </a:r>
            <a:endParaRPr lang="en-US" sz="735" dirty="0"/>
          </a:p>
        </p:txBody>
      </p:sp>
      <p:sp>
        <p:nvSpPr>
          <p:cNvPr id="57" name="Text 28"/>
          <p:cNvSpPr/>
          <p:nvPr/>
        </p:nvSpPr>
        <p:spPr>
          <a:xfrm>
            <a:off x="5658088" y="4321429"/>
            <a:ext cx="2846070" cy="19202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Autofit/>
          </a:bodyPr>
          <a:lstStyle/>
          <a:p>
            <a:pPr marL="0" indent="0">
              <a:buNone/>
            </a:pPr>
            <a:endParaRPr lang="en-US" altLang="zh-CN" sz="1200" dirty="0">
              <a:solidFill>
                <a:schemeClr val="bg2">
                  <a:lumMod val="10000"/>
                </a:schemeClr>
              </a:solidFill>
              <a:latin typeface="Arial Regular" panose="020B0604020202090204" charset="0"/>
              <a:ea typeface="Aptos" pitchFamily="34" charset="-122"/>
              <a:cs typeface="Arial Regular" panose="020B0604020202090204" charset="0"/>
            </a:endParaRPr>
          </a:p>
        </p:txBody>
      </p:sp>
      <p:sp>
        <p:nvSpPr>
          <p:cNvPr id="58" name="Shape 29"/>
          <p:cNvSpPr/>
          <p:nvPr/>
        </p:nvSpPr>
        <p:spPr>
          <a:xfrm>
            <a:off x="356854" y="4834890"/>
            <a:ext cx="8366760" cy="0"/>
          </a:xfrm>
          <a:prstGeom prst="line">
            <a:avLst/>
          </a:prstGeom>
          <a:noFill/>
          <a:ln w="10160">
            <a:solidFill>
              <a:srgbClr val="D7E3EE"/>
            </a:solidFill>
            <a:prstDash val="solid"/>
          </a:ln>
        </p:spPr>
      </p:sp>
      <p:sp>
        <p:nvSpPr>
          <p:cNvPr id="59" name="Text 30"/>
          <p:cNvSpPr/>
          <p:nvPr/>
        </p:nvSpPr>
        <p:spPr>
          <a:xfrm>
            <a:off x="8490442" y="4882896"/>
            <a:ext cx="150876" cy="82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5" dirty="0">
                <a:solidFill>
                  <a:srgbClr val="7890A3"/>
                </a:solidFill>
              </a:rPr>
              <a:t>12</a:t>
            </a:r>
            <a:endParaRPr lang="en-US" sz="565" dirty="0"/>
          </a:p>
        </p:txBody>
      </p:sp>
      <p:sp>
        <p:nvSpPr>
          <p:cNvPr id="90" name="Shape 5"/>
          <p:cNvSpPr/>
          <p:nvPr/>
        </p:nvSpPr>
        <p:spPr>
          <a:xfrm>
            <a:off x="494030" y="3963670"/>
            <a:ext cx="4717415" cy="718820"/>
          </a:xfrm>
          <a:prstGeom prst="roundRect">
            <a:avLst>
              <a:gd name="adj" fmla="val 1059"/>
            </a:avLst>
          </a:prstGeom>
          <a:solidFill>
            <a:srgbClr val="FFFFFF"/>
          </a:solidFill>
          <a:ln w="11430">
            <a:solidFill>
              <a:srgbClr val="D5E0EA"/>
            </a:solidFill>
            <a:prstDash val="solid"/>
          </a:ln>
        </p:spPr>
      </p:sp>
      <p:sp>
        <p:nvSpPr>
          <p:cNvPr id="60" name="Text 4"/>
          <p:cNvSpPr/>
          <p:nvPr/>
        </p:nvSpPr>
        <p:spPr>
          <a:xfrm>
            <a:off x="603742" y="4059936"/>
            <a:ext cx="109728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0.81201</a:t>
            </a:r>
            <a:endParaRPr lang="en-US" sz="1350" dirty="0"/>
          </a:p>
        </p:txBody>
      </p:sp>
      <p:sp>
        <p:nvSpPr>
          <p:cNvPr id="61" name="Text 5"/>
          <p:cNvSpPr/>
          <p:nvPr/>
        </p:nvSpPr>
        <p:spPr>
          <a:xfrm>
            <a:off x="603742" y="431368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final stable</a:t>
            </a:r>
            <a:endParaRPr lang="en-US" sz="675" dirty="0"/>
          </a:p>
        </p:txBody>
      </p:sp>
      <p:sp>
        <p:nvSpPr>
          <p:cNvPr id="62" name="Text 6"/>
          <p:cNvSpPr/>
          <p:nvPr/>
        </p:nvSpPr>
        <p:spPr>
          <a:xfrm>
            <a:off x="2157968" y="4059936"/>
            <a:ext cx="109728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8C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0.80406</a:t>
            </a:r>
            <a:endParaRPr lang="en-US" sz="1350" dirty="0"/>
          </a:p>
        </p:txBody>
      </p:sp>
      <p:sp>
        <p:nvSpPr>
          <p:cNvPr id="63" name="Text 7"/>
          <p:cNvSpPr/>
          <p:nvPr/>
        </p:nvSpPr>
        <p:spPr>
          <a:xfrm>
            <a:off x="2157968" y="431368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XGB branch</a:t>
            </a:r>
            <a:endParaRPr lang="en-US" sz="675" dirty="0"/>
          </a:p>
        </p:txBody>
      </p:sp>
      <p:sp>
        <p:nvSpPr>
          <p:cNvPr id="64" name="Text 8"/>
          <p:cNvSpPr/>
          <p:nvPr/>
        </p:nvSpPr>
        <p:spPr>
          <a:xfrm>
            <a:off x="3861292" y="4059936"/>
            <a:ext cx="109728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5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0.63338</a:t>
            </a:r>
            <a:endParaRPr lang="en-US" sz="1350" dirty="0"/>
          </a:p>
        </p:txBody>
      </p:sp>
      <p:sp>
        <p:nvSpPr>
          <p:cNvPr id="65" name="Text 9"/>
          <p:cNvSpPr/>
          <p:nvPr/>
        </p:nvSpPr>
        <p:spPr>
          <a:xfrm>
            <a:off x="3861292" y="431368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5" dirty="0">
                <a:solidFill>
                  <a:srgbClr val="334155"/>
                </a:solidFill>
                <a:latin typeface="Aptos" charset="0"/>
                <a:ea typeface="Aptos" pitchFamily="34" charset="-122"/>
                <a:cs typeface="Aptos" pitchFamily="34" charset="-120"/>
              </a:rPr>
              <a:t>advanced FE</a:t>
            </a:r>
            <a:endParaRPr lang="en-US" sz="675" dirty="0"/>
          </a:p>
        </p:txBody>
      </p:sp>
      <p:sp>
        <p:nvSpPr>
          <p:cNvPr id="66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5</a:t>
            </a:r>
            <a:endParaRPr lang="en-US" sz="1100"/>
          </a:p>
        </p:txBody>
      </p:sp>
      <p:sp>
        <p:nvSpPr>
          <p:cNvPr id="68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Optimization</a:t>
            </a:r>
            <a:endParaRPr sz="1200"/>
          </a:p>
        </p:txBody>
      </p:sp>
      <p:sp>
        <p:nvSpPr>
          <p:cNvPr id="69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Oval 5"/>
          <p:cNvSpPr/>
          <p:nvPr/>
        </p:nvSpPr>
        <p:spPr>
          <a:xfrm>
            <a:off x="8732520" y="137160"/>
            <a:ext cx="457200" cy="45720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320040"/>
            <a:ext cx="20116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0" name="TextBox 6"/>
          <p:cNvSpPr txBox="1"/>
          <p:nvPr/>
        </p:nvSpPr>
        <p:spPr>
          <a:xfrm>
            <a:off x="421640" y="713105"/>
            <a:ext cx="7835265" cy="384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ptos"/>
              </a:defRPr>
            </a:pPr>
            <a:r>
              <a:rPr sz="2400">
                <a:solidFill>
                  <a:schemeClr val="bg2">
                    <a:lumMod val="25000"/>
                  </a:schemeClr>
                </a:solidFill>
              </a:rPr>
              <a:t> Optimization: Ensemble Learning + Threshold Tuning</a:t>
            </a:r>
            <a:endParaRPr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1" name="Rounded Rectangle 8"/>
          <p:cNvSpPr/>
          <p:nvPr/>
        </p:nvSpPr>
        <p:spPr>
          <a:xfrm>
            <a:off x="421640" y="2008505"/>
            <a:ext cx="2124075" cy="598805"/>
          </a:xfrm>
          <a:prstGeom prst="roundRect">
            <a:avLst/>
          </a:prstGeom>
          <a:solidFill>
            <a:srgbClr val="41362A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9"/>
          <p:cNvSpPr/>
          <p:nvPr/>
        </p:nvSpPr>
        <p:spPr>
          <a:xfrm>
            <a:off x="421640" y="2008505"/>
            <a:ext cx="76200" cy="598805"/>
          </a:xfrm>
          <a:prstGeom prst="rect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10"/>
          <p:cNvSpPr txBox="1"/>
          <p:nvPr/>
        </p:nvSpPr>
        <p:spPr>
          <a:xfrm>
            <a:off x="577215" y="2205990"/>
            <a:ext cx="1061720" cy="1866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400"/>
              <a:t>CatBoost</a:t>
            </a:r>
            <a:endParaRPr sz="1400"/>
          </a:p>
        </p:txBody>
      </p:sp>
      <p:sp>
        <p:nvSpPr>
          <p:cNvPr id="54" name="TextBox 11"/>
          <p:cNvSpPr txBox="1"/>
          <p:nvPr/>
        </p:nvSpPr>
        <p:spPr>
          <a:xfrm>
            <a:off x="1610360" y="2199005"/>
            <a:ext cx="606425" cy="1866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defRPr sz="820" b="1" i="0">
                <a:solidFill>
                  <a:srgbClr val="DDD1C1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</a:rPr>
              <a:t>0.7600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55" name="Rounded Rectangle 12"/>
          <p:cNvSpPr/>
          <p:nvPr/>
        </p:nvSpPr>
        <p:spPr>
          <a:xfrm>
            <a:off x="421640" y="2694305"/>
            <a:ext cx="2124075" cy="598805"/>
          </a:xfrm>
          <a:prstGeom prst="roundRect">
            <a:avLst/>
          </a:prstGeom>
          <a:solidFill>
            <a:srgbClr val="41362A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13"/>
          <p:cNvSpPr/>
          <p:nvPr/>
        </p:nvSpPr>
        <p:spPr>
          <a:xfrm>
            <a:off x="428625" y="2694305"/>
            <a:ext cx="76200" cy="598805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14"/>
          <p:cNvSpPr txBox="1"/>
          <p:nvPr/>
        </p:nvSpPr>
        <p:spPr>
          <a:xfrm>
            <a:off x="577215" y="2821305"/>
            <a:ext cx="1061720" cy="1866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400"/>
              <a:t>LightGBM</a:t>
            </a:r>
            <a:endParaRPr sz="1400"/>
          </a:p>
        </p:txBody>
      </p:sp>
      <p:sp>
        <p:nvSpPr>
          <p:cNvPr id="58" name="TextBox 15"/>
          <p:cNvSpPr txBox="1"/>
          <p:nvPr/>
        </p:nvSpPr>
        <p:spPr>
          <a:xfrm>
            <a:off x="1638935" y="2824480"/>
            <a:ext cx="606425" cy="1866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defRPr sz="820" b="1" i="0">
                <a:solidFill>
                  <a:srgbClr val="DDD1C1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</a:rPr>
              <a:t>0.2325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59" name="Rounded Rectangle 16"/>
          <p:cNvSpPr/>
          <p:nvPr/>
        </p:nvSpPr>
        <p:spPr>
          <a:xfrm>
            <a:off x="421640" y="3443605"/>
            <a:ext cx="2124075" cy="598805"/>
          </a:xfrm>
          <a:prstGeom prst="roundRect">
            <a:avLst/>
          </a:prstGeom>
          <a:solidFill>
            <a:srgbClr val="41362A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17"/>
          <p:cNvSpPr/>
          <p:nvPr/>
        </p:nvSpPr>
        <p:spPr>
          <a:xfrm>
            <a:off x="421640" y="3421380"/>
            <a:ext cx="76200" cy="598805"/>
          </a:xfrm>
          <a:prstGeom prst="rect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18"/>
          <p:cNvSpPr txBox="1"/>
          <p:nvPr/>
        </p:nvSpPr>
        <p:spPr>
          <a:xfrm>
            <a:off x="577215" y="3623310"/>
            <a:ext cx="1061720" cy="1866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400"/>
              <a:t>XGBoost</a:t>
            </a:r>
            <a:endParaRPr sz="1400"/>
          </a:p>
        </p:txBody>
      </p:sp>
      <p:sp>
        <p:nvSpPr>
          <p:cNvPr id="62" name="TextBox 19"/>
          <p:cNvSpPr txBox="1"/>
          <p:nvPr/>
        </p:nvSpPr>
        <p:spPr>
          <a:xfrm>
            <a:off x="1638935" y="3629025"/>
            <a:ext cx="606425" cy="1866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defRPr sz="820" b="1" i="0">
                <a:solidFill>
                  <a:srgbClr val="DDD1C1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</a:rPr>
              <a:t>0.0075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63" name="Rounded Rectangle 20"/>
          <p:cNvSpPr/>
          <p:nvPr/>
        </p:nvSpPr>
        <p:spPr>
          <a:xfrm>
            <a:off x="3070225" y="2607310"/>
            <a:ext cx="1567815" cy="731520"/>
          </a:xfrm>
          <a:prstGeom prst="roundRect">
            <a:avLst/>
          </a:prstGeom>
          <a:solidFill>
            <a:srgbClr val="44392C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TextBox 21"/>
          <p:cNvSpPr txBox="1"/>
          <p:nvPr/>
        </p:nvSpPr>
        <p:spPr>
          <a:xfrm>
            <a:off x="3115945" y="2750185"/>
            <a:ext cx="1425575" cy="5321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200"/>
              <a:t>weighted</a:t>
            </a:r>
            <a:br>
              <a:rPr sz="1200"/>
            </a:br>
            <a:r>
              <a:rPr sz="1200"/>
              <a:t>probability blend</a:t>
            </a:r>
            <a:endParaRPr sz="1200"/>
          </a:p>
        </p:txBody>
      </p:sp>
      <p:sp>
        <p:nvSpPr>
          <p:cNvPr id="65" name="Rounded Rectangle 22"/>
          <p:cNvSpPr/>
          <p:nvPr/>
        </p:nvSpPr>
        <p:spPr>
          <a:xfrm>
            <a:off x="5210175" y="2607310"/>
            <a:ext cx="1567815" cy="731520"/>
          </a:xfrm>
          <a:prstGeom prst="roundRect">
            <a:avLst/>
          </a:prstGeom>
          <a:solidFill>
            <a:srgbClr val="44392C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TextBox 23"/>
          <p:cNvSpPr txBox="1"/>
          <p:nvPr/>
        </p:nvSpPr>
        <p:spPr>
          <a:xfrm>
            <a:off x="5259070" y="2750185"/>
            <a:ext cx="1425575" cy="5321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lang="en-US" altLang="zh-CN" sz="1200"/>
              <a:t>probability + rank stabilization</a:t>
            </a:r>
            <a:endParaRPr lang="en-US" altLang="zh-CN" sz="1200"/>
          </a:p>
        </p:txBody>
      </p:sp>
      <p:sp>
        <p:nvSpPr>
          <p:cNvPr id="67" name="Rounded Rectangle 24"/>
          <p:cNvSpPr/>
          <p:nvPr/>
        </p:nvSpPr>
        <p:spPr>
          <a:xfrm>
            <a:off x="7305675" y="2607310"/>
            <a:ext cx="1325880" cy="762635"/>
          </a:xfrm>
          <a:prstGeom prst="roundRect">
            <a:avLst/>
          </a:prstGeom>
          <a:solidFill>
            <a:srgbClr val="44392C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25"/>
          <p:cNvSpPr txBox="1"/>
          <p:nvPr/>
        </p:nvSpPr>
        <p:spPr>
          <a:xfrm>
            <a:off x="7402195" y="2750185"/>
            <a:ext cx="1131570" cy="489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200"/>
              <a:t>threshold</a:t>
            </a:r>
            <a:br>
              <a:rPr sz="1200"/>
            </a:br>
            <a:r>
              <a:rPr sz="1200"/>
              <a:t>0.5050</a:t>
            </a:r>
            <a:endParaRPr sz="1200"/>
          </a:p>
        </p:txBody>
      </p:sp>
      <p:sp>
        <p:nvSpPr>
          <p:cNvPr id="71" name="TextBox 28"/>
          <p:cNvSpPr txBox="1"/>
          <p:nvPr/>
        </p:nvSpPr>
        <p:spPr>
          <a:xfrm>
            <a:off x="2611120" y="2802255"/>
            <a:ext cx="493395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400" b="1" i="0">
                <a:solidFill>
                  <a:srgbClr val="DDD1C1"/>
                </a:solidFill>
                <a:latin typeface="Aptos"/>
              </a:defRPr>
            </a:pPr>
            <a:r>
              <a:rPr sz="1800">
                <a:solidFill>
                  <a:schemeClr val="bg2">
                    <a:lumMod val="25000"/>
                  </a:schemeClr>
                </a:solidFill>
              </a:rPr>
              <a:t>→</a:t>
            </a:r>
            <a:endParaRPr sz="18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4723130" y="2802255"/>
            <a:ext cx="353695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400" b="1" i="0">
                <a:solidFill>
                  <a:srgbClr val="DDD1C1"/>
                </a:solidFill>
                <a:latin typeface="Aptos"/>
              </a:defRPr>
            </a:pPr>
            <a:r>
              <a:rPr sz="1800">
                <a:solidFill>
                  <a:schemeClr val="bg2">
                    <a:lumMod val="25000"/>
                  </a:schemeClr>
                </a:solidFill>
              </a:rPr>
              <a:t>→</a:t>
            </a:r>
            <a:endParaRPr sz="18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3" name="TextBox 30"/>
          <p:cNvSpPr txBox="1"/>
          <p:nvPr/>
        </p:nvSpPr>
        <p:spPr>
          <a:xfrm>
            <a:off x="6718935" y="2802255"/>
            <a:ext cx="649605" cy="4375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400" b="1" i="0">
                <a:solidFill>
                  <a:srgbClr val="DDD1C1"/>
                </a:solidFill>
                <a:latin typeface="Aptos"/>
              </a:defRPr>
            </a:pPr>
            <a:r>
              <a:rPr sz="1800">
                <a:solidFill>
                  <a:schemeClr val="bg2">
                    <a:lumMod val="25000"/>
                  </a:schemeClr>
                </a:solidFill>
              </a:rPr>
              <a:t>→</a:t>
            </a:r>
            <a:endParaRPr sz="18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5" name="Rounded Rectangle 22"/>
          <p:cNvSpPr/>
          <p:nvPr/>
        </p:nvSpPr>
        <p:spPr>
          <a:xfrm>
            <a:off x="5210175" y="3887470"/>
            <a:ext cx="1567815" cy="731520"/>
          </a:xfrm>
          <a:prstGeom prst="roundRect">
            <a:avLst/>
          </a:prstGeom>
          <a:solidFill>
            <a:srgbClr val="44392C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6" name="TextBox 23"/>
          <p:cNvSpPr txBox="1"/>
          <p:nvPr/>
        </p:nvSpPr>
        <p:spPr>
          <a:xfrm>
            <a:off x="5259070" y="4030345"/>
            <a:ext cx="1425575" cy="5321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820" b="1" i="0">
                <a:solidFill>
                  <a:srgbClr val="FFFFFF"/>
                </a:solidFill>
                <a:latin typeface="Aptos"/>
              </a:defRPr>
            </a:pPr>
            <a:r>
              <a:rPr sz="1200"/>
              <a:t>rank blend</a:t>
            </a:r>
            <a:br>
              <a:rPr sz="1200"/>
            </a:br>
            <a:r>
              <a:rPr sz="1200"/>
              <a:t>α = 0.8125</a:t>
            </a:r>
            <a:endParaRPr sz="1200"/>
          </a:p>
        </p:txBody>
      </p:sp>
      <p:sp>
        <p:nvSpPr>
          <p:cNvPr id="77" name="TextBox 30"/>
          <p:cNvSpPr txBox="1"/>
          <p:nvPr/>
        </p:nvSpPr>
        <p:spPr>
          <a:xfrm rot="16200000">
            <a:off x="5714365" y="3399155"/>
            <a:ext cx="649605" cy="4375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400" b="1" i="0">
                <a:solidFill>
                  <a:srgbClr val="DDD1C1"/>
                </a:solidFill>
                <a:latin typeface="Aptos"/>
              </a:defRPr>
            </a:pPr>
            <a:r>
              <a:rPr sz="1800">
                <a:solidFill>
                  <a:schemeClr val="bg2">
                    <a:lumMod val="25000"/>
                  </a:schemeClr>
                </a:solidFill>
              </a:rPr>
              <a:t>→</a:t>
            </a:r>
            <a:endParaRPr sz="18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4" name="Rounded Rectangle 22"/>
          <p:cNvSpPr/>
          <p:nvPr/>
        </p:nvSpPr>
        <p:spPr>
          <a:xfrm>
            <a:off x="3615690" y="1388745"/>
            <a:ext cx="4974590" cy="995045"/>
          </a:xfrm>
          <a:prstGeom prst="roundRect">
            <a:avLst/>
          </a:prstGeom>
          <a:solidFill>
            <a:srgbClr val="44392C"/>
          </a:solidFill>
          <a:ln w="10160">
            <a:solidFill>
              <a:srgbClr val="BCA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5" name="TextBox 40"/>
          <p:cNvSpPr txBox="1"/>
          <p:nvPr/>
        </p:nvSpPr>
        <p:spPr>
          <a:xfrm>
            <a:off x="3712464" y="1416431"/>
            <a:ext cx="35935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060" b="1" i="0">
                <a:solidFill>
                  <a:srgbClr val="22211F"/>
                </a:solidFill>
                <a:latin typeface="Aptos"/>
              </a:defRPr>
            </a:pPr>
            <a:r>
              <a:rPr sz="1600">
                <a:solidFill>
                  <a:schemeClr val="bg1"/>
                </a:solidFill>
              </a:rPr>
              <a:t>ensemble formula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86" name="TextBox 41"/>
          <p:cNvSpPr txBox="1"/>
          <p:nvPr/>
        </p:nvSpPr>
        <p:spPr>
          <a:xfrm>
            <a:off x="3565525" y="1861820"/>
            <a:ext cx="5120005" cy="3111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020" b="1" i="0">
                <a:solidFill>
                  <a:srgbClr val="22211F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</a:rPr>
              <a:t>final_score = α × probability_blend + (1 − α) × rank_blend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87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6</a:t>
            </a:r>
            <a:endParaRPr lang="en-US" sz="1100"/>
          </a:p>
        </p:txBody>
      </p:sp>
      <p:sp>
        <p:nvSpPr>
          <p:cNvPr id="89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Optimization</a:t>
            </a:r>
            <a:endParaRPr sz="1200"/>
          </a:p>
        </p:txBody>
      </p:sp>
      <p:sp>
        <p:nvSpPr>
          <p:cNvPr id="90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 lang="en-US" altLang="zh-CN">
              <a:latin typeface="Arial Regular" panose="020B0604020202090204" charset="0"/>
              <a:cs typeface="Arial Regular" panose="020B0604020202090204" charset="0"/>
            </a:endParaRPr>
          </a:p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Oval 5"/>
          <p:cNvSpPr/>
          <p:nvPr/>
        </p:nvSpPr>
        <p:spPr>
          <a:xfrm>
            <a:off x="8732520" y="137160"/>
            <a:ext cx="457200" cy="45720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320040"/>
            <a:ext cx="20116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" y="896112"/>
            <a:ext cx="81381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150" b="1" i="0">
                <a:solidFill>
                  <a:srgbClr val="22211F"/>
                </a:solidFill>
                <a:latin typeface="Aptos"/>
              </a:defRPr>
            </a:pPr>
            <a:r>
              <a:t>Code Logic: Static Ensemble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1627632"/>
            <a:ext cx="8595360" cy="1828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2212975"/>
            <a:ext cx="1417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79" y="2331847"/>
            <a:ext cx="310896" cy="310896"/>
          </a:xfrm>
          <a:prstGeom prst="ellipse">
            <a:avLst/>
          </a:prstGeom>
          <a:solidFill>
            <a:srgbClr val="206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395855"/>
            <a:ext cx="164592" cy="1097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endParaRPr sz="1900"/>
          </a:p>
        </p:txBody>
      </p:sp>
      <p:sp>
        <p:nvSpPr>
          <p:cNvPr id="14" name="TextBox 13"/>
          <p:cNvSpPr txBox="1"/>
          <p:nvPr/>
        </p:nvSpPr>
        <p:spPr>
          <a:xfrm>
            <a:off x="758952" y="2395601"/>
            <a:ext cx="822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6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Load </a:t>
            </a:r>
            <a:r>
              <a:rPr lang="en-US" sz="1200"/>
              <a:t>data</a:t>
            </a:r>
            <a:endParaRPr lang="en-US" sz="1200"/>
          </a:p>
        </p:txBody>
      </p:sp>
      <p:sp>
        <p:nvSpPr>
          <p:cNvPr id="15" name="TextBox 14"/>
          <p:cNvSpPr txBox="1"/>
          <p:nvPr/>
        </p:nvSpPr>
        <p:spPr>
          <a:xfrm>
            <a:off x="439293" y="2797810"/>
            <a:ext cx="1188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rPr sz="750"/>
              <a:t>resolve train/test paths</a:t>
            </a:r>
            <a:br>
              <a:rPr sz="750"/>
            </a:br>
            <a:r>
              <a:rPr sz="750"/>
              <a:t>read Transported target</a:t>
            </a:r>
            <a:endParaRPr sz="750"/>
          </a:p>
        </p:txBody>
      </p:sp>
      <p:sp>
        <p:nvSpPr>
          <p:cNvPr id="16" name="TextBox 15"/>
          <p:cNvSpPr txBox="1"/>
          <p:nvPr/>
        </p:nvSpPr>
        <p:spPr>
          <a:xfrm>
            <a:off x="1737360" y="2688463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1400" b="1" i="0">
                <a:solidFill>
                  <a:srgbClr val="AC886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9968" y="2212975"/>
            <a:ext cx="1417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21408" y="2331847"/>
            <a:ext cx="310896" cy="310896"/>
          </a:xfrm>
          <a:prstGeom prst="ellipse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263140"/>
            <a:ext cx="925830" cy="201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6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Feature engineering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2133981" y="2797810"/>
            <a:ext cx="1188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t>Group</a:t>
            </a:r>
            <a:r>
              <a:rPr lang="en-US"/>
              <a:t>i</a:t>
            </a:r>
            <a:r>
              <a:t>d, cabin split,</a:t>
            </a:r>
            <a:br/>
            <a:r>
              <a:t>spending logs, ratios,</a:t>
            </a:r>
            <a:br/>
            <a:r>
              <a:t>Cryo </a:t>
            </a:r>
            <a:r>
              <a:rPr sz="750"/>
              <a:t>interactions</a:t>
            </a:r>
            <a:endParaRPr sz="750"/>
          </a:p>
        </p:txBody>
      </p:sp>
      <p:sp>
        <p:nvSpPr>
          <p:cNvPr id="22" name="TextBox 21"/>
          <p:cNvSpPr txBox="1"/>
          <p:nvPr/>
        </p:nvSpPr>
        <p:spPr>
          <a:xfrm>
            <a:off x="3447288" y="2688463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1400" b="1" i="0">
                <a:solidFill>
                  <a:srgbClr val="AC886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9896" y="2212975"/>
            <a:ext cx="1417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31335" y="2331847"/>
            <a:ext cx="310896" cy="310896"/>
          </a:xfrm>
          <a:prstGeom prst="ellipse">
            <a:avLst/>
          </a:prstGeom>
          <a:solidFill>
            <a:srgbClr val="B8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8808" y="2262886"/>
            <a:ext cx="822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6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Train base models</a:t>
            </a:r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3769995" y="2797810"/>
            <a:ext cx="1321435" cy="4387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rPr sz="700"/>
              <a:t>5-fold StratifiedKFold</a:t>
            </a:r>
            <a:br>
              <a:rPr sz="700"/>
            </a:br>
            <a:r>
              <a:rPr sz="700"/>
              <a:t>XGBoost · LightGBM · CatBoost</a:t>
            </a:r>
            <a:endParaRPr sz="700"/>
          </a:p>
        </p:txBody>
      </p:sp>
      <p:sp>
        <p:nvSpPr>
          <p:cNvPr id="28" name="TextBox 27"/>
          <p:cNvSpPr txBox="1"/>
          <p:nvPr/>
        </p:nvSpPr>
        <p:spPr>
          <a:xfrm>
            <a:off x="5157216" y="2688463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1400" b="1" i="0">
                <a:solidFill>
                  <a:srgbClr val="AC886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9824" y="2212975"/>
            <a:ext cx="1417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41264" y="2331847"/>
            <a:ext cx="310896" cy="310896"/>
          </a:xfrm>
          <a:prstGeom prst="ellipse">
            <a:avLst/>
          </a:prstGeom>
          <a:solidFill>
            <a:srgbClr val="A5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88990" y="2212975"/>
            <a:ext cx="1072515" cy="201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60" b="1" i="0">
                <a:solidFill>
                  <a:srgbClr val="22211F"/>
                </a:solidFill>
                <a:latin typeface="Aptos"/>
              </a:defRPr>
            </a:pPr>
            <a:r>
              <a:rPr lang="en-US" sz="1100"/>
              <a:t>Static  ensamble b</a:t>
            </a:r>
            <a:r>
              <a:rPr sz="1100"/>
              <a:t>lend</a:t>
            </a: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5495290" y="2816860"/>
            <a:ext cx="1278890" cy="4387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rPr sz="750"/>
              <a:t>weighted probability blend</a:t>
            </a:r>
            <a:br>
              <a:rPr sz="750"/>
            </a:br>
            <a:r>
              <a:rPr sz="750"/>
              <a:t>+ percentile rank blend</a:t>
            </a:r>
            <a:endParaRPr sz="750"/>
          </a:p>
        </p:txBody>
      </p:sp>
      <p:sp>
        <p:nvSpPr>
          <p:cNvPr id="34" name="TextBox 33"/>
          <p:cNvSpPr txBox="1"/>
          <p:nvPr/>
        </p:nvSpPr>
        <p:spPr>
          <a:xfrm>
            <a:off x="6867144" y="2688463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1400" b="1" i="0">
                <a:solidFill>
                  <a:srgbClr val="AC886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59752" y="2212975"/>
            <a:ext cx="1417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51192" y="2331847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410" y="2331720"/>
            <a:ext cx="963930" cy="201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60" b="1" i="0">
                <a:solidFill>
                  <a:srgbClr val="22211F"/>
                </a:solidFill>
                <a:latin typeface="Aptos"/>
              </a:defRPr>
            </a:pPr>
            <a:r>
              <a:rPr lang="en-US" sz="1200"/>
              <a:t>Final </a:t>
            </a:r>
            <a:r>
              <a:rPr sz="1200"/>
              <a:t>Submi</a:t>
            </a:r>
            <a:r>
              <a:rPr lang="en-US" sz="1200"/>
              <a:t>ssion</a:t>
            </a:r>
            <a:endParaRPr lang="en-US" sz="1200"/>
          </a:p>
        </p:txBody>
      </p:sp>
      <p:sp>
        <p:nvSpPr>
          <p:cNvPr id="39" name="TextBox 38"/>
          <p:cNvSpPr txBox="1"/>
          <p:nvPr/>
        </p:nvSpPr>
        <p:spPr>
          <a:xfrm>
            <a:off x="7269480" y="2802890"/>
            <a:ext cx="1188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90" b="0" i="0">
                <a:solidFill>
                  <a:srgbClr val="655544"/>
                </a:solidFill>
                <a:latin typeface="Aptos"/>
              </a:defRPr>
            </a:pPr>
            <a:r>
              <a:rPr sz="750"/>
              <a:t>threshold = 0.5050</a:t>
            </a:r>
            <a:br>
              <a:rPr sz="750"/>
            </a:br>
            <a:r>
              <a:rPr sz="750"/>
              <a:t>write final CSV</a:t>
            </a:r>
            <a:endParaRPr sz="750"/>
          </a:p>
        </p:txBody>
      </p:sp>
      <p:sp>
        <p:nvSpPr>
          <p:cNvPr id="40" name="Rounded Rectangle 39"/>
          <p:cNvSpPr/>
          <p:nvPr/>
        </p:nvSpPr>
        <p:spPr>
          <a:xfrm>
            <a:off x="502920" y="3904615"/>
            <a:ext cx="7854950" cy="102425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87968" y="478231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50000"/>
          </a:bodyPr>
          <a:lstStyle/>
          <a:p>
            <a:pPr algn="r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8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2"/>
          <p:cNvSpPr txBox="1"/>
          <p:nvPr/>
        </p:nvSpPr>
        <p:spPr>
          <a:xfrm>
            <a:off x="-73152" y="274193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>
              <a:defRPr sz="680" b="1" i="0">
                <a:solidFill>
                  <a:srgbClr val="FFFFFF"/>
                </a:solidFill>
                <a:latin typeface="Aptos"/>
              </a:defRPr>
            </a:pPr>
            <a:r>
              <a:rPr sz="1100"/>
              <a:t>1</a:t>
            </a:r>
            <a:r>
              <a:rPr lang="en-US" altLang="zh-CN" sz="1100">
                <a:cs typeface="Arial" panose="020B0604020202020204" pitchFamily="34" charset="0"/>
              </a:rPr>
              <a:t>7</a:t>
            </a:r>
            <a:endParaRPr lang="en-US" sz="1100"/>
          </a:p>
        </p:txBody>
      </p:sp>
      <p:sp>
        <p:nvSpPr>
          <p:cNvPr id="50" name="TextBox 3"/>
          <p:cNvSpPr txBox="1"/>
          <p:nvPr/>
        </p:nvSpPr>
        <p:spPr>
          <a:xfrm>
            <a:off x="292608" y="228600"/>
            <a:ext cx="2148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30" b="1" i="0">
                <a:solidFill>
                  <a:srgbClr val="22211F"/>
                </a:solidFill>
                <a:latin typeface="Aptos"/>
              </a:defRPr>
            </a:pPr>
            <a:r>
              <a:rPr sz="1200"/>
              <a:t>Optimization</a:t>
            </a:r>
            <a:endParaRPr sz="1200"/>
          </a:p>
        </p:txBody>
      </p:sp>
      <p:sp>
        <p:nvSpPr>
          <p:cNvPr id="51" name="TextBox 4"/>
          <p:cNvSpPr txBox="1"/>
          <p:nvPr/>
        </p:nvSpPr>
        <p:spPr>
          <a:xfrm>
            <a:off x="292735" y="82550"/>
            <a:ext cx="2468880" cy="1917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 i="0">
                <a:solidFill>
                  <a:srgbClr val="AC8865"/>
                </a:solidFill>
                <a:latin typeface="Aptos"/>
              </a:defRPr>
            </a:pPr>
            <a:r>
              <a:rPr>
                <a:latin typeface="Arial Regular" panose="020B0604020202090204" charset="0"/>
                <a:cs typeface="Arial Regular" panose="020B0604020202090204" charset="0"/>
              </a:rPr>
              <a:t>Nova@MLW  ·  </a:t>
            </a:r>
            <a:r>
              <a:rPr>
                <a:solidFill>
                  <a:srgbClr val="AC8865"/>
                </a:solidFill>
                <a:latin typeface="Arial Regular" panose="020B0604020202090204" charset="0"/>
                <a:cs typeface="Arial Regular" panose="020B0604020202090204" charset="0"/>
              </a:rPr>
              <a:t>Zhentao LUO 2430034048</a:t>
            </a:r>
            <a:endParaRPr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22630" y="4043680"/>
            <a:ext cx="74168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bg2">
                    <a:lumMod val="10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We avoided over-complex branches and selected a static ensemble</a:t>
            </a:r>
            <a:endParaRPr lang="en-US" altLang="zh-CN" sz="1200">
              <a:solidFill>
                <a:schemeClr val="bg2">
                  <a:lumMod val="10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r>
              <a:rPr lang="en-US" altLang="zh-CN" sz="1200">
                <a:solidFill>
                  <a:schemeClr val="bg2">
                    <a:lumMod val="10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The final pipeline rebuilds predictions from train/test data and keeps the result stable, explainable, and reproducible</a:t>
            </a:r>
            <a:endParaRPr lang="en-US" altLang="zh-CN" sz="1200">
              <a:solidFill>
                <a:schemeClr val="bg2">
                  <a:lumMod val="10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63640" y="-1051560"/>
            <a:ext cx="2331720" cy="2331720"/>
          </a:xfrm>
          <a:prstGeom prst="ellipse">
            <a:avLst/>
          </a:prstGeom>
          <a:solidFill>
            <a:srgbClr val="3E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39712" y="2313432"/>
            <a:ext cx="2514600" cy="96012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36992" y="1353312"/>
            <a:ext cx="1600200" cy="594360"/>
          </a:xfrm>
          <a:prstGeom prst="ellipse">
            <a:avLst/>
          </a:prstGeom>
          <a:solidFill>
            <a:srgbClr val="BCA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0625" y="822960"/>
            <a:ext cx="4377690" cy="8642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0000"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rPr lang="en-US" sz="3400"/>
              <a:t>         </a:t>
            </a:r>
            <a:r>
              <a:rPr sz="3400"/>
              <a:t>Summary</a:t>
            </a:r>
            <a:r>
              <a:rPr lang="en-US" sz="3400"/>
              <a:t> </a:t>
            </a:r>
            <a:endParaRPr lang="en-US" sz="3400"/>
          </a:p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rPr lang="en-US" altLang="zh-CN" sz="2200"/>
              <a:t>         </a:t>
            </a:r>
            <a:r>
              <a:rPr lang="zh-CN" altLang="en-US" sz="2200"/>
              <a:t>陈子浩</a:t>
            </a:r>
            <a:r>
              <a:rPr lang="en-US" altLang="zh-CN" sz="2200"/>
              <a:t> 2430034007</a:t>
            </a:r>
            <a:r>
              <a:rPr sz="1000"/>
              <a:t> </a:t>
            </a:r>
            <a:r>
              <a:rPr lang="en-US"/>
              <a:t> </a:t>
            </a:r>
            <a:endParaRPr lang="en-US" altLang="zh-CN"/>
          </a:p>
        </p:txBody>
      </p:sp>
      <p:sp>
        <p:nvSpPr>
          <p:cNvPr id="9" name="Rounded Rectangle 8"/>
          <p:cNvSpPr/>
          <p:nvPr/>
        </p:nvSpPr>
        <p:spPr>
          <a:xfrm>
            <a:off x="640080" y="2084831"/>
            <a:ext cx="1417320" cy="1417320"/>
          </a:xfrm>
          <a:prstGeom prst="roundRect">
            <a:avLst/>
          </a:prstGeom>
          <a:solidFill>
            <a:srgbClr val="3E3225"/>
          </a:solidFill>
          <a:ln w="1270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240280"/>
            <a:ext cx="329184" cy="329184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1343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800" b="1">
                <a:solidFill>
                  <a:srgbClr val="2D25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1" y="2212848"/>
            <a:ext cx="731520" cy="21945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>
              <a:defRPr sz="880" b="1">
                <a:solidFill>
                  <a:srgbClr val="FFFFFF"/>
                </a:solidFill>
                <a:latin typeface="Aptos"/>
              </a:defRPr>
            </a:pPr>
            <a:r>
              <a:rPr lang="zh-CN" altLang="en-US" sz="800"/>
              <a:t>Final stability accuracy rate</a:t>
            </a:r>
            <a:endParaRPr lang="zh-CN" altLang="en-US" sz="800"/>
          </a:p>
        </p:txBody>
      </p:sp>
      <p:sp>
        <p:nvSpPr>
          <p:cNvPr id="13" name="TextBox 12"/>
          <p:cNvSpPr txBox="1"/>
          <p:nvPr/>
        </p:nvSpPr>
        <p:spPr>
          <a:xfrm>
            <a:off x="795781" y="2697480"/>
            <a:ext cx="10972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710" b="0">
                <a:solidFill>
                  <a:srgbClr val="DDD1C1"/>
                </a:solidFill>
                <a:latin typeface="Aptos"/>
              </a:defRPr>
            </a:pPr>
            <a:r>
              <a:rPr lang="en-US" sz="2400"/>
              <a:t>0.81201</a:t>
            </a:r>
            <a:endParaRPr lang="en-US" sz="2400"/>
          </a:p>
        </p:txBody>
      </p:sp>
      <p:sp>
        <p:nvSpPr>
          <p:cNvPr id="14" name="TextBox 13"/>
          <p:cNvSpPr txBox="1"/>
          <p:nvPr/>
        </p:nvSpPr>
        <p:spPr>
          <a:xfrm>
            <a:off x="2084832" y="2679192"/>
            <a:ext cx="2194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400" b="1">
                <a:solidFill>
                  <a:srgbClr val="DDD1C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2084831"/>
            <a:ext cx="1417320" cy="1417320"/>
          </a:xfrm>
          <a:prstGeom prst="roundRect">
            <a:avLst/>
          </a:prstGeom>
          <a:solidFill>
            <a:srgbClr val="3E3225"/>
          </a:solidFill>
          <a:ln w="1270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0" y="2240280"/>
            <a:ext cx="329184" cy="329184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5" y="231343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800" b="1">
                <a:solidFill>
                  <a:srgbClr val="2D25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212848"/>
            <a:ext cx="7315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80" b="1">
                <a:solidFill>
                  <a:srgbClr val="FFFFFF"/>
                </a:solidFill>
                <a:latin typeface="Aptos"/>
              </a:defRPr>
            </a:pPr>
            <a:r>
              <a:rPr lang="zh-CN" altLang="en-US">
                <a:sym typeface="+mn-ea"/>
              </a:rPr>
              <a:t>Optimal solution:</a:t>
            </a:r>
            <a:endParaRPr lang="zh-CN" altLang="en-US">
              <a:sym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78862" y="2635885"/>
            <a:ext cx="10972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710" b="0">
                <a:solidFill>
                  <a:srgbClr val="DDD1C1"/>
                </a:solidFill>
                <a:latin typeface="Aptos"/>
              </a:defRPr>
            </a:pPr>
            <a:r>
              <a:rPr lang="en-US" altLang="zh-CN" sz="1010" b="1"/>
              <a:t>CatBoost + LightGBM + XGBoost Static Weighted Integration</a:t>
            </a:r>
            <a:endParaRPr lang="en-US" altLang="zh-CN" sz="1010" b="1"/>
          </a:p>
        </p:txBody>
      </p:sp>
      <p:sp>
        <p:nvSpPr>
          <p:cNvPr id="20" name="TextBox 19"/>
          <p:cNvSpPr txBox="1"/>
          <p:nvPr/>
        </p:nvSpPr>
        <p:spPr>
          <a:xfrm>
            <a:off x="3867912" y="2679192"/>
            <a:ext cx="2194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400" b="1">
                <a:solidFill>
                  <a:srgbClr val="DDD1C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084831"/>
            <a:ext cx="1417320" cy="1417320"/>
          </a:xfrm>
          <a:prstGeom prst="roundRect">
            <a:avLst/>
          </a:prstGeom>
          <a:solidFill>
            <a:srgbClr val="3E3225"/>
          </a:solidFill>
          <a:ln w="1270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43400" y="2240280"/>
            <a:ext cx="329184" cy="329184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31343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800" b="1">
                <a:solidFill>
                  <a:srgbClr val="2D25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2212848"/>
            <a:ext cx="7315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80" b="1">
                <a:solidFill>
                  <a:srgbClr val="FFFFFF"/>
                </a:solidFill>
                <a:latin typeface="Aptos"/>
              </a:defRPr>
            </a:pPr>
            <a:r>
              <a:rPr lang="en-US" altLang="zh-CN" sz="1080">
                <a:sym typeface="+mn-ea"/>
              </a:rPr>
              <a:t>C</a:t>
            </a:r>
            <a:r>
              <a:rPr lang="zh-CN" altLang="en-US" sz="1080">
                <a:sym typeface="+mn-ea"/>
              </a:rPr>
              <a:t>ore advantage</a:t>
            </a:r>
            <a:endParaRPr lang="zh-CN" altLang="en-US" sz="1080">
              <a:sym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70831" y="2635885"/>
            <a:ext cx="10972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710" b="0">
                <a:solidFill>
                  <a:srgbClr val="DDD1C1"/>
                </a:solidFill>
                <a:latin typeface="Aptos"/>
              </a:defRPr>
            </a:pPr>
            <a:r>
              <a:rPr lang="zh-CN" altLang="en-US" sz="1010"/>
              <a:t>High stability, strong generalizability, and complete reproducibility</a:t>
            </a:r>
            <a:endParaRPr lang="zh-CN" altLang="en-US" sz="1010"/>
          </a:p>
        </p:txBody>
      </p:sp>
      <p:sp>
        <p:nvSpPr>
          <p:cNvPr id="26" name="TextBox 25"/>
          <p:cNvSpPr txBox="1"/>
          <p:nvPr/>
        </p:nvSpPr>
        <p:spPr>
          <a:xfrm>
            <a:off x="5650992" y="2679192"/>
            <a:ext cx="2194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400" b="1">
                <a:solidFill>
                  <a:srgbClr val="DDD1C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084831"/>
            <a:ext cx="1417320" cy="1417320"/>
          </a:xfrm>
          <a:prstGeom prst="roundRect">
            <a:avLst/>
          </a:prstGeom>
          <a:solidFill>
            <a:srgbClr val="3E3225"/>
          </a:solidFill>
          <a:ln w="1270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0" y="2240280"/>
            <a:ext cx="329184" cy="329184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231343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800" b="1">
                <a:solidFill>
                  <a:srgbClr val="2D25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2212848"/>
            <a:ext cx="7315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880" b="1">
                <a:solidFill>
                  <a:srgbClr val="FFFFFF"/>
                </a:solidFill>
                <a:latin typeface="Aptos"/>
              </a:defRPr>
            </a:pPr>
            <a:r>
              <a:rPr lang="en-US" altLang="zh-CN" sz="1080">
                <a:sym typeface="+mn-ea"/>
              </a:rPr>
              <a:t>M</a:t>
            </a:r>
            <a:r>
              <a:rPr lang="zh-CN" altLang="en-US" sz="1080">
                <a:sym typeface="+mn-ea"/>
              </a:rPr>
              <a:t>ethodology</a:t>
            </a:r>
            <a:endParaRPr lang="zh-CN" altLang="en-US" sz="1080">
              <a:sym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53912" y="2697480"/>
            <a:ext cx="10972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710" b="0">
                <a:solidFill>
                  <a:srgbClr val="DDD1C1"/>
                </a:solidFill>
                <a:latin typeface="Aptos"/>
              </a:defRPr>
            </a:pPr>
            <a:r>
              <a:rPr lang="zh-CN" altLang="en-US" sz="910"/>
              <a:t>Progressive Optimization from a Simple Baseline to Controllable Integration</a:t>
            </a:r>
            <a:endParaRPr lang="zh-CN" altLang="en-US" sz="910"/>
          </a:p>
        </p:txBody>
      </p:sp>
      <p:sp>
        <p:nvSpPr>
          <p:cNvPr id="32" name="Rounded Rectangle 31"/>
          <p:cNvSpPr/>
          <p:nvPr/>
        </p:nvSpPr>
        <p:spPr>
          <a:xfrm>
            <a:off x="658368" y="3858768"/>
            <a:ext cx="7269480" cy="658368"/>
          </a:xfrm>
          <a:prstGeom prst="roundRect">
            <a:avLst/>
          </a:prstGeom>
          <a:solidFill>
            <a:srgbClr val="3E3225"/>
          </a:solidFill>
          <a:ln w="12700">
            <a:solidFill>
              <a:srgbClr val="DD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005072"/>
            <a:ext cx="11887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Core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3265" y="4004945"/>
            <a:ext cx="5715000" cy="3638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90" b="0">
                <a:solidFill>
                  <a:srgbClr val="DDD1C1"/>
                </a:solidFill>
                <a:latin typeface="Aptos"/>
              </a:defRPr>
            </a:pPr>
            <a:r>
              <a:t>The final solution is not a sudden jump; it is a controlled path from simple models to a compact boosted ensemble.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73152" y="228581"/>
            <a:ext cx="210175" cy="164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ptos"/>
              </a:defRPr>
            </a:pPr>
            <a:r>
              <a:rPr sz="800"/>
              <a:t>1</a:t>
            </a:r>
            <a:r>
              <a:rPr lang="en-US" altLang="zh-CN" sz="800">
                <a:cs typeface="Arial" panose="020B0604020202020204" pitchFamily="34" charset="0"/>
              </a:rPr>
              <a:t>8</a:t>
            </a:r>
            <a:endParaRPr sz="800"/>
          </a:p>
        </p:txBody>
      </p:sp>
      <p:sp>
        <p:nvSpPr>
          <p:cNvPr id="4" name="TextBox 3"/>
          <p:cNvSpPr txBox="1"/>
          <p:nvPr/>
        </p:nvSpPr>
        <p:spPr>
          <a:xfrm>
            <a:off x="292608" y="228600"/>
            <a:ext cx="24688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30" b="1">
                <a:solidFill>
                  <a:srgbClr val="22211F"/>
                </a:solidFill>
                <a:latin typeface="Aptos"/>
              </a:defRPr>
            </a:pPr>
            <a:r>
              <a:t>Summary Analysis</a:t>
            </a:r>
            <a:r>
              <a:rPr lang="en-US"/>
              <a:t> </a:t>
            </a:r>
            <a:r>
              <a:rPr lang="en-US">
                <a:solidFill>
                  <a:srgbClr val="22211F"/>
                </a:solidFill>
                <a:latin typeface="Aptos" charset="0"/>
              </a:rPr>
              <a:t>Zihao CHEN 2430034007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2608" y="429768"/>
            <a:ext cx="246888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20000"/>
          </a:bodyPr>
          <a:lstStyle/>
          <a:p>
            <a:pPr algn="l">
              <a:defRPr sz="660" b="0">
                <a:solidFill>
                  <a:srgbClr val="AC8865"/>
                </a:solidFill>
                <a:latin typeface="Aptos"/>
              </a:defRPr>
            </a:pPr>
            <a:r>
              <a:t>Nova@MLW  ·  AI3023 ML Workshop</a:t>
            </a:r>
          </a:p>
        </p:txBody>
      </p:sp>
      <p:sp>
        <p:nvSpPr>
          <p:cNvPr id="6" name="Oval 5"/>
          <p:cNvSpPr/>
          <p:nvPr/>
        </p:nvSpPr>
        <p:spPr>
          <a:xfrm>
            <a:off x="8732520" y="137160"/>
            <a:ext cx="457200" cy="45720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320040"/>
            <a:ext cx="20116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690" b="0">
                <a:solidFill>
                  <a:srgbClr val="65554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734" y="657987"/>
            <a:ext cx="81381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2000">
                <a:sym typeface="+mn-ea"/>
              </a:rPr>
              <a:t>Key Technology Pathway Review</a:t>
            </a:r>
            <a:endParaRPr lang="zh-CN" altLang="en-US" sz="2000">
              <a:sym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7033" y="1288542"/>
            <a:ext cx="8595360" cy="1828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015" y="1460500"/>
            <a:ext cx="8477250" cy="3307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460500"/>
            <a:ext cx="54864" cy="2331720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65" y="1586230"/>
            <a:ext cx="5480050" cy="201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>
              <a:defRPr sz="1100" b="1">
                <a:solidFill>
                  <a:srgbClr val="22211F"/>
                </a:solidFill>
                <a:latin typeface="Aptos"/>
              </a:defRPr>
            </a:pPr>
            <a:r>
              <a:rPr lang="zh-CN" altLang="en-US" sz="1200">
                <a:sym typeface="+mn-ea"/>
              </a:rPr>
              <a:t>The complete optimization chain from data to model</a:t>
            </a:r>
            <a:endParaRPr lang="zh-CN" altLang="en-US" sz="1200">
              <a:sym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2000885"/>
            <a:ext cx="2361565" cy="2567940"/>
          </a:xfrm>
          <a:prstGeom prst="rect">
            <a:avLst/>
          </a:prstGeom>
          <a:noFill/>
        </p:spPr>
        <p:txBody>
          <a:bodyPr wrap="square" lIns="27432" tIns="27432" rIns="27432" bIns="27432">
            <a:normAutofit/>
          </a:bodyPr>
          <a:lstStyle/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 b="1"/>
              <a:t>Data Understanding and EDA</a:t>
            </a:r>
            <a:endParaRPr lang="en-US" altLang="zh-CN" sz="2400" b="1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Identify hidden grouping/cabin mode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Identifying the nonlinear distribution of consumption and age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Extracting predictive signals from strong classification features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endParaRPr lang="zh-CN" altLang="en-US" sz="1200"/>
          </a:p>
        </p:txBody>
      </p:sp>
      <p:sp>
        <p:nvSpPr>
          <p:cNvPr id="21" name="TextBox 20"/>
          <p:cNvSpPr txBox="1"/>
          <p:nvPr/>
        </p:nvSpPr>
        <p:spPr>
          <a:xfrm>
            <a:off x="8887968" y="478231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50000"/>
          </a:bodyPr>
          <a:lstStyle/>
          <a:p>
            <a:pPr algn="ctr">
              <a:defRPr sz="660" b="0">
                <a:solidFill>
                  <a:srgbClr val="AC886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2" name="TextBox 13"/>
          <p:cNvSpPr txBox="1"/>
          <p:nvPr/>
        </p:nvSpPr>
        <p:spPr>
          <a:xfrm>
            <a:off x="3044825" y="2000885"/>
            <a:ext cx="2649220" cy="2311400"/>
          </a:xfrm>
          <a:prstGeom prst="rect">
            <a:avLst/>
          </a:prstGeom>
          <a:noFill/>
        </p:spPr>
        <p:txBody>
          <a:bodyPr wrap="square" lIns="27432" tIns="27432" rIns="27432" bIns="27432">
            <a:normAutofit/>
          </a:bodyPr>
          <a:lstStyle/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 b="1"/>
              <a:t>Precision Feature Engineering</a:t>
            </a:r>
            <a:endParaRPr lang="zh-CN" altLang="en-US" sz="2400" b="1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Analysis broken down into four major dimensions: Grouping, Cabin Class, Consumption, and Age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Construction of interaction features based on EDA findings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Dual-view features adapt to different models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endParaRPr lang="zh-CN" altLang="en-US" sz="1200"/>
          </a:p>
        </p:txBody>
      </p:sp>
      <p:sp>
        <p:nvSpPr>
          <p:cNvPr id="23" name="TextBox 13"/>
          <p:cNvSpPr txBox="1"/>
          <p:nvPr/>
        </p:nvSpPr>
        <p:spPr>
          <a:xfrm>
            <a:off x="5782945" y="2028190"/>
            <a:ext cx="2649220" cy="2547620"/>
          </a:xfrm>
          <a:prstGeom prst="rect">
            <a:avLst/>
          </a:prstGeom>
          <a:noFill/>
        </p:spPr>
        <p:txBody>
          <a:bodyPr wrap="square" lIns="27432" tIns="27432" rIns="27432" bIns="27432">
            <a:normAutofit/>
          </a:bodyPr>
          <a:lstStyle/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 b="1"/>
              <a:t>Model Iteration and Integration</a:t>
            </a:r>
            <a:endParaRPr lang="zh-CN" altLang="en-US" sz="2400" b="1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Linear baseline → Single-tree model → Multi-tree fusion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Eliminate complex and ineffective branches, focusing on stable improvement</a:t>
            </a:r>
            <a:endParaRPr lang="zh-CN" altLang="en-US" sz="12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200"/>
              <a:t>A dual integration strategy combining probability weighting and rank fusion</a:t>
            </a:r>
            <a:endParaRPr lang="zh-CN" altLang="en-US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1782" y="228581"/>
            <a:ext cx="215051" cy="1828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ptos"/>
              </a:defRPr>
            </a:pPr>
            <a:r>
              <a:rPr sz="800"/>
              <a:t>1</a:t>
            </a:r>
            <a:r>
              <a:rPr lang="en-US" altLang="zh-CN" sz="800">
                <a:cs typeface="Arial" panose="020B0604020202020204" pitchFamily="34" charset="0"/>
              </a:rPr>
              <a:t>9</a:t>
            </a:r>
            <a:endParaRPr sz="800"/>
          </a:p>
        </p:txBody>
      </p:sp>
      <p:sp>
        <p:nvSpPr>
          <p:cNvPr id="4" name="TextBox 3"/>
          <p:cNvSpPr txBox="1"/>
          <p:nvPr/>
        </p:nvSpPr>
        <p:spPr>
          <a:xfrm>
            <a:off x="292608" y="228600"/>
            <a:ext cx="235014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30" b="1">
                <a:solidFill>
                  <a:srgbClr val="22211F"/>
                </a:solidFill>
                <a:latin typeface="Aptos"/>
              </a:defRPr>
            </a:pPr>
            <a:r>
              <a:t>Summary Analysis</a:t>
            </a:r>
            <a:r>
              <a:rPr lang="en-US"/>
              <a:t> </a:t>
            </a:r>
            <a:r>
              <a:rPr lang="en-US">
                <a:solidFill>
                  <a:srgbClr val="22211F"/>
                </a:solidFill>
                <a:latin typeface="Aptos" charset="0"/>
              </a:rPr>
              <a:t>Zihao CHEN 2430034007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2608" y="429768"/>
            <a:ext cx="246888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60" b="0">
                <a:solidFill>
                  <a:srgbClr val="AC8865"/>
                </a:solidFill>
                <a:latin typeface="Aptos"/>
              </a:defRPr>
            </a:pPr>
            <a:r>
              <a:t>Nova@MLW  ·  AI3023 ML Workshop</a:t>
            </a:r>
          </a:p>
        </p:txBody>
      </p:sp>
      <p:sp>
        <p:nvSpPr>
          <p:cNvPr id="6" name="Oval 5"/>
          <p:cNvSpPr/>
          <p:nvPr/>
        </p:nvSpPr>
        <p:spPr>
          <a:xfrm>
            <a:off x="8732520" y="137160"/>
            <a:ext cx="457200" cy="45720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320040"/>
            <a:ext cx="20116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90" b="0">
                <a:solidFill>
                  <a:srgbClr val="65554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174" y="767842"/>
            <a:ext cx="81381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spcAft>
                <a:spcPts val="500"/>
              </a:spcAft>
              <a:defRPr sz="900">
                <a:solidFill>
                  <a:srgbClr val="655544"/>
                </a:solidFill>
                <a:latin typeface="Aptos"/>
              </a:defRPr>
            </a:pPr>
            <a:r>
              <a:rPr lang="zh-CN" altLang="en-US" sz="1800">
                <a:sym typeface="+mn-ea"/>
              </a:rPr>
              <a:t>Model Generalizability and Stability Assurance</a:t>
            </a:r>
            <a:endParaRPr lang="zh-CN" altLang="en-US" sz="1800">
              <a:sym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788" y="1307592"/>
            <a:ext cx="8595360" cy="1828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750" y="1507871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902" y="159016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850" b="1">
                <a:solidFill>
                  <a:srgbClr val="206987"/>
                </a:solidFill>
                <a:latin typeface="Aptos"/>
              </a:defRPr>
            </a:pPr>
            <a:r>
              <a:t>0.812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190" y="1937639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60" b="0">
                <a:solidFill>
                  <a:srgbClr val="655544"/>
                </a:solidFill>
                <a:latin typeface="Aptos"/>
              </a:defRPr>
            </a:pPr>
            <a:r>
              <a:t>selected public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542" y="1507871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694" y="159016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850" b="1">
                <a:solidFill>
                  <a:srgbClr val="3D7B5B"/>
                </a:solidFill>
                <a:latin typeface="Aptos"/>
              </a:defRPr>
            </a:pPr>
            <a:r>
              <a:t>0.8147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982" y="1937639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60" b="0">
                <a:solidFill>
                  <a:srgbClr val="655544"/>
                </a:solidFill>
                <a:latin typeface="Aptos"/>
              </a:defRPr>
            </a:pPr>
            <a:r>
              <a:t>OOF threshold-search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334" y="1507871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486" y="159016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850" b="1">
                <a:solidFill>
                  <a:srgbClr val="B85B37"/>
                </a:solidFill>
                <a:latin typeface="Aptos"/>
              </a:defRPr>
            </a:pPr>
            <a:r>
              <a:t>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774" y="1937639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60" b="0">
                <a:solidFill>
                  <a:srgbClr val="655544"/>
                </a:solidFill>
                <a:latin typeface="Aptos"/>
              </a:defRPr>
            </a:pPr>
            <a:r>
              <a:t>model families compared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34126" y="1507871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278" y="159016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850" b="1">
                <a:solidFill>
                  <a:srgbClr val="A540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566" y="1937639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60" b="0">
                <a:solidFill>
                  <a:srgbClr val="655544"/>
                </a:solidFill>
                <a:latin typeface="Aptos"/>
              </a:defRPr>
            </a:pPr>
            <a:r>
              <a:t>evaluation angles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135" y="2403475"/>
            <a:ext cx="8406130" cy="215455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390" y="2403602"/>
            <a:ext cx="54864" cy="1554480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710" y="2519045"/>
            <a:ext cx="4822190" cy="201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>
              <a:defRPr sz="1100" b="1">
                <a:solidFill>
                  <a:srgbClr val="22211F"/>
                </a:solidFill>
                <a:latin typeface="Aptos"/>
              </a:defRPr>
            </a:pPr>
            <a:r>
              <a:rPr lang="zh-CN" altLang="en-US" sz="1200">
                <a:sym typeface="+mn-ea"/>
              </a:rPr>
              <a:t>Avoid overfitting and pursue genuine generalization capability</a:t>
            </a:r>
            <a:endParaRPr lang="zh-CN" altLang="en-US" sz="1200"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880" y="2800350"/>
            <a:ext cx="8014335" cy="1633220"/>
          </a:xfrm>
          <a:prstGeom prst="rect">
            <a:avLst/>
          </a:prstGeom>
          <a:noFill/>
        </p:spPr>
        <p:txBody>
          <a:bodyPr wrap="square" lIns="27432" tIns="27432" rIns="27432" bIns="27432"/>
          <a:lstStyle/>
          <a:p>
            <a:pPr>
              <a:spcAft>
                <a:spcPts val="500"/>
              </a:spcAft>
              <a:defRPr sz="90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</a:t>
            </a:r>
            <a:r>
              <a:rPr lang="en-US" altLang="zh-CN" sz="1200"/>
              <a:t>The training set and test set exhibit highly consistent performance without significant overfitting.</a:t>
            </a:r>
            <a:endParaRPr lang="zh-CN" altLang="en-US" sz="2400"/>
          </a:p>
          <a:p>
            <a:pPr>
              <a:spcAft>
                <a:spcPts val="500"/>
              </a:spcAft>
              <a:defRPr sz="90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</a:t>
            </a:r>
            <a:r>
              <a:rPr lang="en-US" altLang="zh-CN" sz="1200">
                <a:sym typeface="+mn-ea"/>
              </a:rPr>
              <a:t>No test set labels or any tricks targeting the test set were used throughout.</a:t>
            </a:r>
            <a:endParaRPr lang="zh-CN" altLang="en-US" sz="2400"/>
          </a:p>
          <a:p>
            <a:pPr>
              <a:spcAft>
                <a:spcPts val="500"/>
              </a:spcAft>
              <a:defRPr sz="90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</a:t>
            </a:r>
            <a:r>
              <a:rPr lang="en-US" altLang="zh-CN" sz="1200">
                <a:sym typeface="+mn-ea"/>
              </a:rPr>
              <a:t>By employing a static integration pipeline with only retraining, the results are fully reproducible.</a:t>
            </a:r>
            <a:endParaRPr lang="zh-CN" altLang="en-US" sz="2400"/>
          </a:p>
          <a:p>
            <a:pPr>
              <a:spcAft>
                <a:spcPts val="500"/>
              </a:spcAft>
              <a:defRPr sz="90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-&gt;Avoid overfitting on the current test set and ensure stable performance when switching test sets</a:t>
            </a:r>
            <a:endParaRPr lang="zh-CN" altLang="en-US" sz="2400"/>
          </a:p>
          <a:p>
            <a:pPr>
              <a:spcAft>
                <a:spcPts val="500"/>
              </a:spcAft>
              <a:defRPr sz="90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-&gt;Prioritize model combinations with strong generalization capabilities over pursuing the highest single-score result</a:t>
            </a:r>
            <a:endParaRPr lang="en-US" altLang="zh-CN" sz="1200">
              <a:sym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87968" y="478231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660" b="0">
                <a:solidFill>
                  <a:srgbClr val="AC8865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" y="164592"/>
            <a:ext cx="310896" cy="310896"/>
          </a:xfrm>
          <a:prstGeom prst="ellipse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5252" y="219487"/>
            <a:ext cx="221992" cy="20116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ptos"/>
              </a:defRPr>
            </a:pPr>
            <a:r>
              <a:rPr lang="en-US" altLang="zh-CN" sz="800"/>
              <a:t>20</a:t>
            </a:r>
            <a:endParaRPr sz="800"/>
          </a:p>
        </p:txBody>
      </p:sp>
      <p:sp>
        <p:nvSpPr>
          <p:cNvPr id="4" name="TextBox 3"/>
          <p:cNvSpPr txBox="1"/>
          <p:nvPr/>
        </p:nvSpPr>
        <p:spPr>
          <a:xfrm>
            <a:off x="292608" y="228600"/>
            <a:ext cx="2531365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30" b="1">
                <a:solidFill>
                  <a:srgbClr val="22211F"/>
                </a:solidFill>
                <a:latin typeface="Aptos"/>
              </a:defRPr>
            </a:pPr>
            <a:r>
              <a:t>Summary Analysis</a:t>
            </a:r>
            <a:r>
              <a:rPr lang="en-US"/>
              <a:t> </a:t>
            </a:r>
            <a:r>
              <a:rPr lang="en-US">
                <a:solidFill>
                  <a:srgbClr val="22211F"/>
                </a:solidFill>
                <a:latin typeface="Aptos" charset="0"/>
              </a:rPr>
              <a:t>Zihao CHEN 2430034007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2608" y="429768"/>
            <a:ext cx="246888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20000"/>
          </a:bodyPr>
          <a:lstStyle/>
          <a:p>
            <a:pPr algn="l">
              <a:defRPr sz="660" b="0">
                <a:solidFill>
                  <a:srgbClr val="AC8865"/>
                </a:solidFill>
                <a:latin typeface="Aptos"/>
              </a:defRPr>
            </a:pPr>
            <a:r>
              <a:t>Nova@MLW  ·  AI3023 ML Workshop</a:t>
            </a:r>
          </a:p>
        </p:txBody>
      </p:sp>
      <p:sp>
        <p:nvSpPr>
          <p:cNvPr id="6" name="Oval 5"/>
          <p:cNvSpPr/>
          <p:nvPr/>
        </p:nvSpPr>
        <p:spPr>
          <a:xfrm>
            <a:off x="8732520" y="137160"/>
            <a:ext cx="457200" cy="45720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320040"/>
            <a:ext cx="20116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60000"/>
          </a:bodyPr>
          <a:lstStyle/>
          <a:p>
            <a:pPr algn="ctr">
              <a:defRPr sz="690" b="0">
                <a:solidFill>
                  <a:srgbClr val="65554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784" y="827532"/>
            <a:ext cx="81381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zh-CN" altLang="en-US" sz="1800" b="1">
                <a:sym typeface="+mn-ea"/>
              </a:rPr>
              <a:t>Core Experiences and Insights</a:t>
            </a:r>
            <a:endParaRPr lang="zh-CN" altLang="en-US" sz="1800" b="1">
              <a:sym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728" y="1627632"/>
            <a:ext cx="8595360" cy="1828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8305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54864" cy="2331720"/>
          </a:xfrm>
          <a:prstGeom prst="rect">
            <a:avLst/>
          </a:prstGeom>
          <a:solidFill>
            <a:srgbClr val="3D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029968"/>
            <a:ext cx="368503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100" b="1">
                <a:solidFill>
                  <a:srgbClr val="22211F"/>
                </a:solidFill>
                <a:latin typeface="Aptos"/>
              </a:defRPr>
            </a:pPr>
            <a:r>
              <a:rPr lang="zh-CN" altLang="en-US" sz="1000">
                <a:sym typeface="+mn-ea"/>
              </a:rPr>
              <a:t>The key takeaways from this competition</a:t>
            </a:r>
            <a:endParaRPr lang="zh-CN" altLang="en-US" sz="1000">
              <a:sym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2331720"/>
            <a:ext cx="7519035" cy="1767840"/>
          </a:xfrm>
          <a:prstGeom prst="rect">
            <a:avLst/>
          </a:prstGeom>
          <a:noFill/>
        </p:spPr>
        <p:txBody>
          <a:bodyPr wrap="square" lIns="27432" tIns="27432" rIns="27432" bIns="27432">
            <a:normAutofit/>
          </a:bodyPr>
          <a:lstStyle/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 Simplicity &gt; complexity: excessive feature engineering and dynamic stacking instead introduce noise</a:t>
            </a:r>
            <a:endParaRPr lang="zh-CN" altLang="en-US" sz="24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</a:t>
            </a:r>
            <a:r>
              <a:rPr lang="en-US" altLang="zh-CN" sz="1200">
                <a:sym typeface="+mn-ea"/>
              </a:rPr>
              <a:t>Complementarity outweighs singularity: The error differences among various tree models represent the core value of integration.</a:t>
            </a:r>
            <a:endParaRPr lang="zh-CN" altLang="en-US" sz="24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 Stability priority: Stable medium scores are preferable to fluctuating high scores</a:t>
            </a:r>
            <a:endParaRPr lang="zh-CN" altLang="en-US" sz="2400"/>
          </a:p>
          <a:p>
            <a:pPr>
              <a:spcAft>
                <a:spcPts val="500"/>
              </a:spcAft>
              <a:defRPr sz="960">
                <a:solidFill>
                  <a:srgbClr val="655544"/>
                </a:solidFill>
                <a:latin typeface="Aptos"/>
              </a:defRPr>
            </a:pPr>
            <a:r>
              <a:rPr lang="en-US" altLang="zh-CN" sz="1200">
                <a:sym typeface="+mn-ea"/>
              </a:rPr>
              <a:t>-&gt;Data-driven optimization: </a:t>
            </a:r>
            <a:r>
              <a:rPr lang="en-US" altLang="zh-CN" sz="1200">
                <a:sym typeface="+mn-ea"/>
              </a:rPr>
              <a:t>Improvements are based on EDA and error analysis, rather than blind experimentation</a:t>
            </a:r>
            <a:endParaRPr lang="en-US" altLang="zh-CN" sz="1200">
              <a:sym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87968" y="4782312"/>
            <a:ext cx="164592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50000"/>
          </a:bodyPr>
          <a:lstStyle/>
          <a:p>
            <a:pPr algn="ctr">
              <a:defRPr sz="660" b="0">
                <a:solidFill>
                  <a:srgbClr val="AC8865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20840" y="-777240"/>
            <a:ext cx="1874519" cy="1874519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2148840"/>
            <a:ext cx="2057400" cy="777240"/>
          </a:xfrm>
          <a:prstGeom prst="ellipse">
            <a:avLst/>
          </a:prstGeom>
          <a:solidFill>
            <a:srgbClr val="DD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694944"/>
            <a:ext cx="1051560" cy="64008"/>
          </a:xfrm>
          <a:prstGeom prst="rect">
            <a:avLst/>
          </a:prstGeom>
          <a:solidFill>
            <a:srgbClr val="AC8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2926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2700" b="1" i="0">
                <a:solidFill>
                  <a:srgbClr val="22211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09344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300" b="1" i="0">
                <a:solidFill>
                  <a:srgbClr val="655544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11680"/>
            <a:ext cx="6217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1000" b="0" i="0">
                <a:solidFill>
                  <a:srgbClr val="22211F"/>
                </a:solidFill>
                <a:latin typeface="Aptos"/>
              </a:defRPr>
            </a:pPr>
            <a:r>
              <a:t>Step by step, we turned data insights into engineered features, then turned complementary tree models into a stable final submission.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2999232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08152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900" b="1" i="0">
                <a:solidFill>
                  <a:srgbClr val="206987"/>
                </a:solidFill>
                <a:latin typeface="Aptos"/>
              </a:defRPr>
            </a:pPr>
            <a:r>
              <a:t>0.812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429000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80" b="0" i="0">
                <a:solidFill>
                  <a:srgbClr val="655544"/>
                </a:solidFill>
                <a:latin typeface="Aptos"/>
              </a:defRPr>
            </a:pPr>
            <a:r>
              <a:t>selected public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999232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308152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defRPr sz="1900" b="1" i="0">
                <a:solidFill>
                  <a:srgbClr val="3D7B5B"/>
                </a:solidFill>
                <a:latin typeface="Aptos"/>
              </a:defRPr>
            </a:pPr>
            <a:r>
              <a:rPr sz="1200"/>
              <a:t>simple → complex</a:t>
            </a:r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2468880" y="3429000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80" b="0" i="0">
                <a:solidFill>
                  <a:srgbClr val="655544"/>
                </a:solidFill>
                <a:latin typeface="Aptos"/>
              </a:defRPr>
            </a:pPr>
            <a:r>
              <a:t>clear modeling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999232"/>
            <a:ext cx="1554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3081527"/>
            <a:ext cx="14081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1900" b="1" i="0">
                <a:solidFill>
                  <a:srgbClr val="B85B37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3429000"/>
            <a:ext cx="1371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defRPr sz="780" b="0" i="0">
                <a:solidFill>
                  <a:srgbClr val="655544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4608576"/>
            <a:ext cx="38404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00" b="0" i="0">
                <a:solidFill>
                  <a:srgbClr val="AC8865"/>
                </a:solidFill>
                <a:latin typeface="Aptos"/>
              </a:defRPr>
            </a:pPr>
            <a:r>
              <a:t>AI3023 Machine Learning Workshop  ·  Nova@MLW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3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4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5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6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7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8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9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0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1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2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3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4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5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6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7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8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19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0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1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2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3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4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5.xml><?xml version="1.0" encoding="utf-8"?>
<p:tagLst xmlns:p="http://schemas.openxmlformats.org/presentationml/2006/main">
  <p:tag name="KSO_WM_DIAGRAM_VIRTUALLY_FRAME" val="{&quot;height&quot;:234.1,&quot;left&quot;:39.6,&quot;top&quot;:89.9,&quot;width&quot;:662.4}"/>
</p:tagLst>
</file>

<file path=ppt/tags/tag26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27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28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29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0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1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2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3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4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5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6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7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8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39.xml><?xml version="1.0" encoding="utf-8"?>
<p:tagLst xmlns:p="http://schemas.openxmlformats.org/presentationml/2006/main">
  <p:tag name="KSO_WM_DIAGRAM_VIRTUALLY_FRAME" val="{&quot;height&quot;:241.2,&quot;left&quot;:36,&quot;top&quot;:111.6,&quot;width&quot;:644.4}"/>
</p:tagLst>
</file>

<file path=ppt/tags/tag40.xml><?xml version="1.0" encoding="utf-8"?>
<p:tagLst xmlns:p="http://schemas.openxmlformats.org/presentationml/2006/main">
  <p:tag name="KSO_WM_DIAGRAM_VIRTUALLY_FRAME" val="{&quot;height&quot;:220.1,&quot;left&quot;:74.35,&quot;top&quot;:147.9,&quot;width&quot;:473.1}"/>
</p:tagLst>
</file>

<file path=ppt/tags/tag41.xml><?xml version="1.0" encoding="utf-8"?>
<p:tagLst xmlns:p="http://schemas.openxmlformats.org/presentationml/2006/main">
  <p:tag name="KSO_WM_DIAGRAM_VIRTUALLY_FRAME" val="{&quot;height&quot;:220.1,&quot;left&quot;:74.35,&quot;top&quot;:147.9,&quot;width&quot;:473.1}"/>
</p:tagLst>
</file>

<file path=ppt/tags/tag42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3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4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5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6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7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8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49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0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1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2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3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4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5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ags/tag56.xml><?xml version="1.0" encoding="utf-8"?>
<p:tagLst xmlns:p="http://schemas.openxmlformats.org/presentationml/2006/main">
  <p:tag name="KSO_WM_DIAGRAM_VIRTUALLY_FRAME" val="{&quot;height&quot;:176.4,&quot;left&quot;:39.6,&quot;top&quot;:109.44000000000001,&quot;width&quot;:3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12512</Words>
  <Application>WPS Office WWO_wpscloud_20260521192124-597ff31d3d</Application>
  <PresentationFormat>On-screen Show (4:3)</PresentationFormat>
  <Paragraphs>811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宋体</vt:lpstr>
      <vt:lpstr>Wingdings</vt:lpstr>
      <vt:lpstr>Arial</vt:lpstr>
      <vt:lpstr>Aptos</vt:lpstr>
      <vt:lpstr>Aptos</vt:lpstr>
      <vt:lpstr>Calibri</vt:lpstr>
      <vt:lpstr>微软雅黑</vt:lpstr>
      <vt:lpstr>汉仪旗黑KW 55S</vt:lpstr>
      <vt:lpstr>Calibri</vt:lpstr>
      <vt:lpstr>Arial</vt:lpstr>
      <vt:lpstr>Arial</vt:lpstr>
      <vt:lpstr>Arial Regular</vt:lpstr>
      <vt:lpstr>Aptos Display</vt:lpstr>
      <vt:lpstr>Aptos Display</vt:lpstr>
      <vt:lpstr>Aptos Display</vt:lpstr>
      <vt:lpstr>Aptos</vt:lpstr>
      <vt:lpstr>Aptos</vt:lpstr>
      <vt:lpstr>Arial Bold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像你如风</cp:lastModifiedBy>
  <dcterms:created xsi:type="dcterms:W3CDTF">2026-05-28T01:16:55Z</dcterms:created>
  <dcterms:modified xsi:type="dcterms:W3CDTF">2026-05-28T01:16:55Z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90815B1E05824936A268FCC672FFBF32_13</vt:lpwstr>
  </property>
  <property fmtid="{D5CDD505-2E9C-101B-9397-08002B2CF9AE}" pid="3" name="KSOProductBuildVer">
    <vt:lpwstr>2052-12.9.0.26832</vt:lpwstr>
  </property>
</Properties>
</file>